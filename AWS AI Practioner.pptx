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6" r:id="rId2"/>
    <p:sldId id="257" r:id="rId3"/>
    <p:sldId id="258" r:id="rId4"/>
    <p:sldId id="262" r:id="rId5"/>
    <p:sldId id="260" r:id="rId6"/>
    <p:sldId id="259" r:id="rId7"/>
    <p:sldId id="263" r:id="rId8"/>
    <p:sldId id="264" r:id="rId9"/>
    <p:sldId id="265" r:id="rId10"/>
    <p:sldId id="266" r:id="rId11"/>
    <p:sldId id="267" r:id="rId12"/>
    <p:sldId id="268" r:id="rId13"/>
    <p:sldId id="278" r:id="rId14"/>
    <p:sldId id="269" r:id="rId15"/>
    <p:sldId id="270" r:id="rId16"/>
    <p:sldId id="271" r:id="rId17"/>
    <p:sldId id="272" r:id="rId18"/>
    <p:sldId id="273" r:id="rId19"/>
    <p:sldId id="274" r:id="rId20"/>
    <p:sldId id="275" r:id="rId21"/>
    <p:sldId id="276" r:id="rId22"/>
    <p:sldId id="279" r:id="rId23"/>
    <p:sldId id="280"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9829"/>
    <a:srgbClr val="3B8927"/>
    <a:srgbClr val="2072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1823" autoAdjust="0"/>
  </p:normalViewPr>
  <p:slideViewPr>
    <p:cSldViewPr snapToGrid="0">
      <p:cViewPr varScale="1">
        <p:scale>
          <a:sx n="51" d="100"/>
          <a:sy n="51" d="100"/>
        </p:scale>
        <p:origin x="1906"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litadevi Pila" userId="fde4767b-93da-4a40-b479-a7533747f5f6" providerId="ADAL" clId="{A7570D48-BEBE-410F-AD37-A2230D831E91}"/>
    <pc:docChg chg="undo custSel addSld delSld">
      <pc:chgData name="Lalitadevi Pila" userId="fde4767b-93da-4a40-b479-a7533747f5f6" providerId="ADAL" clId="{A7570D48-BEBE-410F-AD37-A2230D831E91}" dt="2025-12-30T02:36:25.565" v="2" actId="47"/>
      <pc:docMkLst>
        <pc:docMk/>
      </pc:docMkLst>
      <pc:sldChg chg="del">
        <pc:chgData name="Lalitadevi Pila" userId="fde4767b-93da-4a40-b479-a7533747f5f6" providerId="ADAL" clId="{A7570D48-BEBE-410F-AD37-A2230D831E91}" dt="2025-12-30T02:36:17.293" v="0" actId="47"/>
        <pc:sldMkLst>
          <pc:docMk/>
          <pc:sldMk cId="4112745892" sldId="261"/>
        </pc:sldMkLst>
      </pc:sldChg>
      <pc:sldChg chg="add del">
        <pc:chgData name="Lalitadevi Pila" userId="fde4767b-93da-4a40-b479-a7533747f5f6" providerId="ADAL" clId="{A7570D48-BEBE-410F-AD37-A2230D831E91}" dt="2025-12-30T02:36:25.565" v="2" actId="47"/>
        <pc:sldMkLst>
          <pc:docMk/>
          <pc:sldMk cId="2484201011" sldId="27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C755AD-ED7C-432D-6CDF-E2E3E17EA9C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674836E-F66C-7288-DB94-C51B9EBFE2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11694E-7B60-4414-B3BA-F683C96194BA}" type="datetimeFigureOut">
              <a:rPr lang="en-US" smtClean="0"/>
              <a:t>12/29/2025</a:t>
            </a:fld>
            <a:endParaRPr lang="en-US"/>
          </a:p>
        </p:txBody>
      </p:sp>
      <p:sp>
        <p:nvSpPr>
          <p:cNvPr id="4" name="Footer Placeholder 3">
            <a:extLst>
              <a:ext uri="{FF2B5EF4-FFF2-40B4-BE49-F238E27FC236}">
                <a16:creationId xmlns:a16="http://schemas.microsoft.com/office/drawing/2014/main" id="{C2EFD113-7DD8-7018-7C2E-A2AD39D3456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AWS AI Practitioner</a:t>
            </a:r>
          </a:p>
        </p:txBody>
      </p:sp>
      <p:sp>
        <p:nvSpPr>
          <p:cNvPr id="5" name="Slide Number Placeholder 4">
            <a:extLst>
              <a:ext uri="{FF2B5EF4-FFF2-40B4-BE49-F238E27FC236}">
                <a16:creationId xmlns:a16="http://schemas.microsoft.com/office/drawing/2014/main" id="{8AB9CC02-A448-4B17-C4ED-42B6FB37DDA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4B25AF-95D3-4E14-870B-442F336783B9}" type="slidenum">
              <a:rPr lang="en-US" smtClean="0"/>
              <a:t>‹#›</a:t>
            </a:fld>
            <a:endParaRPr lang="en-US"/>
          </a:p>
        </p:txBody>
      </p:sp>
    </p:spTree>
    <p:extLst>
      <p:ext uri="{BB962C8B-B14F-4D97-AF65-F5344CB8AC3E}">
        <p14:creationId xmlns:p14="http://schemas.microsoft.com/office/powerpoint/2010/main" val="307057853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5593AC-D08F-4C73-BB95-EF8696CD3362}" type="datetimeFigureOut">
              <a:rPr lang="en-US" smtClean="0"/>
              <a:t>12/29/2025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AWS AI Practitioner</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5DC2D9-6E94-4E31-ACDD-1E8D9B4BB84C}" type="slidenum">
              <a:rPr lang="en-US" smtClean="0"/>
              <a:t>‹#›</a:t>
            </a:fld>
            <a:endParaRPr lang="en-US"/>
          </a:p>
        </p:txBody>
      </p:sp>
    </p:spTree>
    <p:extLst>
      <p:ext uri="{BB962C8B-B14F-4D97-AF65-F5344CB8AC3E}">
        <p14:creationId xmlns:p14="http://schemas.microsoft.com/office/powerpoint/2010/main" val="246070450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1</a:t>
            </a:fld>
            <a:endParaRPr lang="en-US"/>
          </a:p>
        </p:txBody>
      </p:sp>
      <p:sp>
        <p:nvSpPr>
          <p:cNvPr id="5" name="Footer Placeholder 4">
            <a:extLst>
              <a:ext uri="{FF2B5EF4-FFF2-40B4-BE49-F238E27FC236}">
                <a16:creationId xmlns:a16="http://schemas.microsoft.com/office/drawing/2014/main" id="{16532BEA-ECF6-F224-BE61-30383F33E493}"/>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2427887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AWS AI Practitioner</a:t>
            </a:r>
          </a:p>
        </p:txBody>
      </p:sp>
      <p:sp>
        <p:nvSpPr>
          <p:cNvPr id="5" name="Slide Number Placeholder 4"/>
          <p:cNvSpPr>
            <a:spLocks noGrp="1"/>
          </p:cNvSpPr>
          <p:nvPr>
            <p:ph type="sldNum" sz="quarter" idx="5"/>
          </p:nvPr>
        </p:nvSpPr>
        <p:spPr/>
        <p:txBody>
          <a:bodyPr/>
          <a:lstStyle/>
          <a:p>
            <a:fld id="{2C5DC2D9-6E94-4E31-ACDD-1E8D9B4BB84C}" type="slidenum">
              <a:rPr lang="en-US" smtClean="0"/>
              <a:t>2</a:t>
            </a:fld>
            <a:endParaRPr lang="en-US"/>
          </a:p>
        </p:txBody>
      </p:sp>
    </p:spTree>
    <p:extLst>
      <p:ext uri="{BB962C8B-B14F-4D97-AF65-F5344CB8AC3E}">
        <p14:creationId xmlns:p14="http://schemas.microsoft.com/office/powerpoint/2010/main" val="3578467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rPr>
              <a:t>AI is a broad field that encompasses the development of intelligent systems capable of performing tasks that typically require human intelligence, such as perception, reasoning, learning, problem-solving, and decision-making. More use cases we can pick:</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800" dirty="0">
                <a:effectLst/>
                <a:latin typeface="Calibri" panose="020F0502020204030204" pitchFamily="34" charset="0"/>
              </a:rPr>
              <a:t>Transcribe and Translate spoken language</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800" dirty="0">
                <a:effectLst/>
                <a:latin typeface="Calibri" panose="020F0502020204030204" pitchFamily="34" charset="0"/>
              </a:rPr>
              <a:t>Playing human in games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800" dirty="0">
                <a:effectLst/>
                <a:latin typeface="Calibri" panose="020F0502020204030204" pitchFamily="34" charset="0"/>
              </a:rPr>
              <a:t>Driving cars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800" dirty="0">
                <a:effectLst/>
                <a:latin typeface="Calibri" panose="020F0502020204030204" pitchFamily="34" charset="0"/>
              </a:rPr>
              <a:t>Speech recognition</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800" dirty="0">
                <a:effectLst/>
                <a:latin typeface="Calibri" panose="020F0502020204030204" pitchFamily="34" charset="0"/>
              </a:rPr>
              <a:t>Suggest code for developers</a:t>
            </a:r>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3</a:t>
            </a:fld>
            <a:endParaRPr lang="en-US"/>
          </a:p>
        </p:txBody>
      </p:sp>
      <p:sp>
        <p:nvSpPr>
          <p:cNvPr id="5" name="Footer Placeholder 4">
            <a:extLst>
              <a:ext uri="{FF2B5EF4-FFF2-40B4-BE49-F238E27FC236}">
                <a16:creationId xmlns:a16="http://schemas.microsoft.com/office/drawing/2014/main" id="{E9EB038C-1D5F-57D7-77DD-19D9A7BBCADD}"/>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2140820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rPr>
              <a:t>AI serves as an umbrella term for various techniques and approaches, including machine learning, deep learning, and generative AI, among others.</a:t>
            </a:r>
          </a:p>
        </p:txBody>
      </p:sp>
      <p:sp>
        <p:nvSpPr>
          <p:cNvPr id="4" name="Slide Number Placeholder 3"/>
          <p:cNvSpPr>
            <a:spLocks noGrp="1"/>
          </p:cNvSpPr>
          <p:nvPr>
            <p:ph type="sldNum" sz="quarter" idx="5"/>
          </p:nvPr>
        </p:nvSpPr>
        <p:spPr/>
        <p:txBody>
          <a:bodyPr/>
          <a:lstStyle/>
          <a:p>
            <a:fld id="{2C5DC2D9-6E94-4E31-ACDD-1E8D9B4BB84C}" type="slidenum">
              <a:rPr lang="en-US" smtClean="0"/>
              <a:t>4</a:t>
            </a:fld>
            <a:endParaRPr lang="en-US"/>
          </a:p>
        </p:txBody>
      </p:sp>
      <p:sp>
        <p:nvSpPr>
          <p:cNvPr id="5" name="Footer Placeholder 4">
            <a:extLst>
              <a:ext uri="{FF2B5EF4-FFF2-40B4-BE49-F238E27FC236}">
                <a16:creationId xmlns:a16="http://schemas.microsoft.com/office/drawing/2014/main" id="{149AE7EF-954C-3573-89FA-C102911887C0}"/>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258330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12529"/>
                </a:solidFill>
                <a:effectLst/>
                <a:latin typeface="Open Sans" panose="020B0606030504020204" pitchFamily="34" charset="0"/>
              </a:rPr>
              <a:t>In Turing’s version, The test was based on an adaptation of a Victorian-style game that involved the seclusion of a man and a woman from an interrogator, who must guess which is which. the computer program replaced one of the participants, and the questioner had to determine which was the computer and which was the human. If the interrogator was unable to tell the difference between the machine and the human, the computer would be considered to be thinking, or to possess “artificial intelligence.” </a:t>
            </a:r>
            <a:r>
              <a:rPr lang="en-US" dirty="0"/>
              <a:t>There is another person John McCarthy, who just invented the term “Artificial intelligence”.  </a:t>
            </a:r>
          </a:p>
          <a:p>
            <a:r>
              <a:rPr lang="en-US" dirty="0"/>
              <a:t>In the 1970, we have Expert systems. It’s a system which has AI rule based system to detect bacteria. Based on some rules it will detect bacteria. </a:t>
            </a:r>
          </a:p>
          <a:p>
            <a:r>
              <a:rPr lang="en-US" dirty="0"/>
              <a:t>In 1990, machine learning &amp; data mining. There is no surprise, there are more and more data. </a:t>
            </a:r>
          </a:p>
        </p:txBody>
      </p:sp>
      <p:sp>
        <p:nvSpPr>
          <p:cNvPr id="4" name="Footer Placeholder 3"/>
          <p:cNvSpPr>
            <a:spLocks noGrp="1"/>
          </p:cNvSpPr>
          <p:nvPr>
            <p:ph type="ftr" sz="quarter" idx="4"/>
          </p:nvPr>
        </p:nvSpPr>
        <p:spPr/>
        <p:txBody>
          <a:bodyPr/>
          <a:lstStyle/>
          <a:p>
            <a:r>
              <a:rPr lang="en-US"/>
              <a:t>AWS AI Practitioner</a:t>
            </a:r>
          </a:p>
        </p:txBody>
      </p:sp>
      <p:sp>
        <p:nvSpPr>
          <p:cNvPr id="5" name="Slide Number Placeholder 4"/>
          <p:cNvSpPr>
            <a:spLocks noGrp="1"/>
          </p:cNvSpPr>
          <p:nvPr>
            <p:ph type="sldNum" sz="quarter" idx="5"/>
          </p:nvPr>
        </p:nvSpPr>
        <p:spPr/>
        <p:txBody>
          <a:bodyPr/>
          <a:lstStyle/>
          <a:p>
            <a:fld id="{2C5DC2D9-6E94-4E31-ACDD-1E8D9B4BB84C}" type="slidenum">
              <a:rPr lang="en-US" smtClean="0"/>
              <a:t>5</a:t>
            </a:fld>
            <a:endParaRPr lang="en-US"/>
          </a:p>
        </p:txBody>
      </p:sp>
    </p:spTree>
    <p:extLst>
      <p:ext uri="{BB962C8B-B14F-4D97-AF65-F5344CB8AC3E}">
        <p14:creationId xmlns:p14="http://schemas.microsoft.com/office/powerpoint/2010/main" val="2767343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0"/>
            <a:r>
              <a:rPr lang="en-US" sz="1800" dirty="0">
                <a:latin typeface="Calibri" panose="020F0502020204030204" pitchFamily="34" charset="0"/>
              </a:rPr>
              <a:t>How does AI Works:</a:t>
            </a:r>
          </a:p>
          <a:p>
            <a:pPr lvl="1"/>
            <a:r>
              <a:rPr lang="en-US" sz="1400" dirty="0">
                <a:latin typeface="Calibri" panose="020F0502020204030204" pitchFamily="34" charset="0"/>
              </a:rPr>
              <a:t>Data Layer: Collect vast amounts of data. </a:t>
            </a:r>
          </a:p>
          <a:p>
            <a:pPr lvl="1"/>
            <a:r>
              <a:rPr lang="en-US" sz="1400" dirty="0">
                <a:latin typeface="Calibri" panose="020F0502020204030204" pitchFamily="34" charset="0"/>
              </a:rPr>
              <a:t>ML Framework and algorithm layer: Here we will create algorithm to solve the use cases provided. </a:t>
            </a:r>
          </a:p>
          <a:p>
            <a:pPr lvl="1"/>
            <a:r>
              <a:rPr lang="en-US" sz="1400" dirty="0">
                <a:latin typeface="Calibri" panose="020F0502020204030204" pitchFamily="34" charset="0"/>
              </a:rPr>
              <a:t>Model layer: Here we implement model based on the algorithm and train it with the data. </a:t>
            </a:r>
          </a:p>
          <a:p>
            <a:pPr lvl="1"/>
            <a:r>
              <a:rPr lang="en-US" sz="1400" dirty="0">
                <a:latin typeface="Calibri" panose="020F0502020204030204" pitchFamily="34" charset="0"/>
              </a:rPr>
              <a:t>Application layer: Model will help to server to the end users. </a:t>
            </a:r>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6</a:t>
            </a:fld>
            <a:endParaRPr lang="en-US"/>
          </a:p>
        </p:txBody>
      </p:sp>
      <p:sp>
        <p:nvSpPr>
          <p:cNvPr id="5" name="Footer Placeholder 4">
            <a:extLst>
              <a:ext uri="{FF2B5EF4-FFF2-40B4-BE49-F238E27FC236}">
                <a16:creationId xmlns:a16="http://schemas.microsoft.com/office/drawing/2014/main" id="{AE7F0372-D206-D73B-CEF7-B6807931D9B1}"/>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2961654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effectLst/>
                <a:latin typeface="Ember Display"/>
              </a:rPr>
              <a:t>Building a machine learning model involves data collection and preparation, selecting an appropriate algorithm, training the model on the prepared data, and evaluating its performance through testing and iteration.</a:t>
            </a:r>
          </a:p>
          <a:p>
            <a:pPr rtl="0" fontAlgn="ctr">
              <a:buFont typeface="+mj-lt"/>
              <a:buAutoNum type="alphaLcPeriod"/>
            </a:pPr>
            <a:endParaRPr lang="en-US" sz="1800" b="0" i="0" dirty="0">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C5DC2D9-6E94-4E31-ACDD-1E8D9B4BB84C}" type="slidenum">
              <a:rPr lang="en-US" smtClean="0"/>
              <a:t>7</a:t>
            </a:fld>
            <a:endParaRPr lang="en-US"/>
          </a:p>
        </p:txBody>
      </p:sp>
      <p:sp>
        <p:nvSpPr>
          <p:cNvPr id="5" name="Footer Placeholder 4">
            <a:extLst>
              <a:ext uri="{FF2B5EF4-FFF2-40B4-BE49-F238E27FC236}">
                <a16:creationId xmlns:a16="http://schemas.microsoft.com/office/drawing/2014/main" id="{73FEE3AB-77EA-E9EB-9A75-185754485786}"/>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27255878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Ember Display"/>
              </a:rPr>
              <a:t>There are a several different types of data used in training an ML model. First, it's important to know the difference between labeled and unlabeled data.</a:t>
            </a: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Labeled: </a:t>
            </a:r>
            <a:r>
              <a:rPr lang="en-US" b="0" i="0" dirty="0">
                <a:solidFill>
                  <a:srgbClr val="000000"/>
                </a:solidFill>
                <a:effectLst/>
                <a:latin typeface="Ember Display"/>
              </a:rPr>
              <a:t>Labeled data is a dataset where each instance or example is accompanied by a label or target variable that represents the desired output or classification. These labels are typically provided by human experts or obtained through a reliable process.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Ember Display"/>
            </a:endParaRPr>
          </a:p>
          <a:p>
            <a:pPr algn="l" fontAlgn="base"/>
            <a:r>
              <a:rPr lang="en-US" b="1" i="0" dirty="0">
                <a:solidFill>
                  <a:srgbClr val="000000"/>
                </a:solidFill>
                <a:effectLst/>
                <a:latin typeface="var(--font-family-head)"/>
              </a:rPr>
              <a:t>Unlabeled data</a:t>
            </a:r>
          </a:p>
          <a:p>
            <a:pPr fontAlgn="base"/>
            <a:r>
              <a:rPr lang="en-US" dirty="0">
                <a:effectLst/>
                <a:latin typeface="inherit"/>
              </a:rPr>
              <a:t>Unlabeled data is a dataset where the instances or examples do not have any associated labels or target variables. The data consists only of input features, without any corresponding output or classification.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Ember Display"/>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Ember Display"/>
              </a:rPr>
              <a:t>The main types of data used in training are structured and unstructured data. They come with various subtypes, which you can find by expanding the following categories.</a:t>
            </a:r>
          </a:p>
          <a:p>
            <a:endParaRPr lang="en-US" dirty="0"/>
          </a:p>
          <a:p>
            <a:r>
              <a:rPr lang="en-US" b="1" dirty="0"/>
              <a:t>Structured data</a:t>
            </a:r>
            <a:r>
              <a:rPr lang="en-US" dirty="0"/>
              <a:t> refers to data that is organized and formatted in a predefined manner, typically in the form of tables or databases with rows and columns. This type of data is suitable for traditional machine learning algorithms that require well-defined features and labels. The following are types of structured data.</a:t>
            </a:r>
          </a:p>
          <a:p>
            <a:endParaRPr lang="en-US" dirty="0"/>
          </a:p>
          <a:p>
            <a:pPr lvl="1" fontAlgn="base"/>
            <a:r>
              <a:rPr lang="en-US" dirty="0"/>
              <a:t>Tabular data: This includes data stored in spreadsheets, databases, or CSV files, with rows representing instances and columns representing features or attributes.</a:t>
            </a:r>
          </a:p>
          <a:p>
            <a:pPr lvl="1" fontAlgn="base"/>
            <a:r>
              <a:rPr lang="en-US" dirty="0"/>
              <a:t>Time-series data: This type of data consists of sequences of values measured at .</a:t>
            </a:r>
          </a:p>
          <a:p>
            <a:pPr algn="l" fontAlgn="base"/>
            <a:r>
              <a:rPr lang="en-US" b="1" i="0" dirty="0">
                <a:solidFill>
                  <a:srgbClr val="000000"/>
                </a:solidFill>
                <a:effectLst/>
                <a:latin typeface="Ember Display"/>
              </a:rPr>
              <a:t>Unstructured data </a:t>
            </a:r>
            <a:r>
              <a:rPr lang="en-US" b="0" i="0" dirty="0">
                <a:solidFill>
                  <a:srgbClr val="000000"/>
                </a:solidFill>
                <a:effectLst/>
                <a:latin typeface="Ember Display"/>
              </a:rPr>
              <a:t>is data that lacks a predefined structure or format, such as text, images, audio, and video. This type of data requires more advanced machine learning techniques to extract meaningful patterns and insights.</a:t>
            </a:r>
          </a:p>
          <a:p>
            <a:pPr lvl="1" algn="l" fontAlgn="base"/>
            <a:r>
              <a:rPr lang="en-US" b="1" i="0" dirty="0">
                <a:solidFill>
                  <a:srgbClr val="000000"/>
                </a:solidFill>
                <a:effectLst/>
                <a:latin typeface="inherit"/>
              </a:rPr>
              <a:t>Text data:</a:t>
            </a:r>
            <a:r>
              <a:rPr lang="en-US" b="0" i="0" dirty="0">
                <a:solidFill>
                  <a:srgbClr val="000000"/>
                </a:solidFill>
                <a:effectLst/>
                <a:latin typeface="Ember Display"/>
              </a:rPr>
              <a:t> This includes documents, articles, social media posts, and other textual data.</a:t>
            </a:r>
          </a:p>
          <a:p>
            <a:pPr lvl="1" algn="l" fontAlgn="base"/>
            <a:r>
              <a:rPr lang="en-US" b="1" i="0" dirty="0">
                <a:solidFill>
                  <a:srgbClr val="000000"/>
                </a:solidFill>
                <a:effectLst/>
                <a:latin typeface="inherit"/>
              </a:rPr>
              <a:t>Image data:</a:t>
            </a:r>
            <a:r>
              <a:rPr lang="en-US" b="0" i="0" dirty="0">
                <a:solidFill>
                  <a:srgbClr val="000000"/>
                </a:solidFill>
                <a:effectLst/>
                <a:latin typeface="Ember Display"/>
              </a:rPr>
              <a:t> This includes digital images, photographs, and video frames.</a:t>
            </a:r>
          </a:p>
          <a:p>
            <a:pPr lvl="0" fontAlgn="base"/>
            <a:endParaRPr lang="en-US" dirty="0"/>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8</a:t>
            </a:fld>
            <a:endParaRPr lang="en-US"/>
          </a:p>
        </p:txBody>
      </p:sp>
      <p:sp>
        <p:nvSpPr>
          <p:cNvPr id="5" name="Footer Placeholder 4">
            <a:extLst>
              <a:ext uri="{FF2B5EF4-FFF2-40B4-BE49-F238E27FC236}">
                <a16:creationId xmlns:a16="http://schemas.microsoft.com/office/drawing/2014/main" id="{8BDC4F98-7D82-11F6-A62F-932D0CCBDF34}"/>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2671535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Ember Display"/>
              </a:rPr>
              <a:t>The compiled training data is fed into machine learning algorithms. The ML learning process is traditionally divided into three broad categories: </a:t>
            </a:r>
            <a:r>
              <a:rPr lang="en-US" b="0" i="1" dirty="0">
                <a:solidFill>
                  <a:srgbClr val="000000"/>
                </a:solidFill>
                <a:effectLst/>
                <a:latin typeface="Ember Display"/>
              </a:rPr>
              <a:t>supervised learning</a:t>
            </a:r>
            <a:r>
              <a:rPr lang="en-US" b="0" i="0" dirty="0">
                <a:solidFill>
                  <a:srgbClr val="000000"/>
                </a:solidFill>
                <a:effectLst/>
                <a:latin typeface="Ember Display"/>
              </a:rPr>
              <a:t>, </a:t>
            </a:r>
            <a:r>
              <a:rPr lang="en-US" b="0" i="1" dirty="0">
                <a:solidFill>
                  <a:srgbClr val="000000"/>
                </a:solidFill>
                <a:effectLst/>
                <a:latin typeface="Ember Display"/>
              </a:rPr>
              <a:t>unsupervised</a:t>
            </a:r>
            <a:r>
              <a:rPr lang="en-US" b="0" i="0" dirty="0">
                <a:solidFill>
                  <a:srgbClr val="000000"/>
                </a:solidFill>
                <a:effectLst/>
                <a:latin typeface="Ember Display"/>
              </a:rPr>
              <a:t> </a:t>
            </a:r>
          </a:p>
          <a:p>
            <a:endParaRPr lang="en-US" b="0" i="0" dirty="0">
              <a:solidFill>
                <a:srgbClr val="000000"/>
              </a:solidFill>
              <a:effectLst/>
              <a:latin typeface="Ember Display"/>
            </a:endParaRPr>
          </a:p>
          <a:p>
            <a:r>
              <a:rPr lang="en-US" b="0" i="0" dirty="0">
                <a:solidFill>
                  <a:srgbClr val="000000"/>
                </a:solidFill>
                <a:effectLst/>
                <a:latin typeface="Ember Display"/>
              </a:rPr>
              <a:t>In </a:t>
            </a:r>
            <a:r>
              <a:rPr lang="en-US" b="0" i="1" dirty="0">
                <a:solidFill>
                  <a:srgbClr val="000000"/>
                </a:solidFill>
                <a:effectLst/>
                <a:latin typeface="Ember Display"/>
              </a:rPr>
              <a:t>supervised learning</a:t>
            </a:r>
            <a:r>
              <a:rPr lang="en-US" b="0" i="0" dirty="0">
                <a:solidFill>
                  <a:srgbClr val="000000"/>
                </a:solidFill>
                <a:effectLst/>
                <a:latin typeface="Ember Display"/>
              </a:rPr>
              <a:t>, the algorithms are trained on labeled data. The goal is to learn a mapping function that can predict the output for new, unseen input </a:t>
            </a:r>
            <a:r>
              <a:rPr lang="en-US" b="0" i="0" dirty="0" err="1">
                <a:solidFill>
                  <a:srgbClr val="000000"/>
                </a:solidFill>
                <a:effectLst/>
                <a:latin typeface="Ember Display"/>
              </a:rPr>
              <a:t>data.</a:t>
            </a:r>
            <a:r>
              <a:rPr lang="en-US" b="0" i="1" dirty="0" err="1">
                <a:solidFill>
                  <a:srgbClr val="000000"/>
                </a:solidFill>
                <a:effectLst/>
                <a:latin typeface="Ember Display"/>
              </a:rPr>
              <a:t>learning</a:t>
            </a:r>
            <a:r>
              <a:rPr lang="en-US" b="0" i="0" dirty="0">
                <a:solidFill>
                  <a:srgbClr val="000000"/>
                </a:solidFill>
                <a:effectLst/>
                <a:latin typeface="Ember Display"/>
              </a:rPr>
              <a:t>, and </a:t>
            </a:r>
            <a:r>
              <a:rPr lang="en-US" b="0" i="1" dirty="0">
                <a:solidFill>
                  <a:srgbClr val="000000"/>
                </a:solidFill>
                <a:effectLst/>
                <a:latin typeface="Ember Display"/>
              </a:rPr>
              <a:t>reinforcement learning</a:t>
            </a:r>
            <a:r>
              <a:rPr lang="en-US" b="0" i="0" dirty="0">
                <a:solidFill>
                  <a:srgbClr val="000000"/>
                </a:solidFill>
                <a:effectLst/>
                <a:latin typeface="Ember Display"/>
              </a:rPr>
              <a:t>.</a:t>
            </a:r>
          </a:p>
          <a:p>
            <a:endParaRPr lang="en-US" b="0" i="0" dirty="0">
              <a:solidFill>
                <a:srgbClr val="000000"/>
              </a:solidFill>
              <a:effectLst/>
              <a:latin typeface="Ember Display"/>
            </a:endParaRPr>
          </a:p>
          <a:p>
            <a:r>
              <a:rPr lang="en-US" b="0" i="1" dirty="0">
                <a:solidFill>
                  <a:srgbClr val="000000"/>
                </a:solidFill>
                <a:effectLst/>
                <a:latin typeface="Ember Display"/>
              </a:rPr>
              <a:t>Unsupervised learning</a:t>
            </a:r>
            <a:r>
              <a:rPr lang="en-US" b="0" i="0" dirty="0">
                <a:solidFill>
                  <a:srgbClr val="000000"/>
                </a:solidFill>
                <a:effectLst/>
                <a:latin typeface="Ember Display"/>
              </a:rPr>
              <a:t> refers to algorithms that learn from unlabeled data. The goal is to discover inherent patterns, structures, or relationships within the input data.</a:t>
            </a:r>
          </a:p>
          <a:p>
            <a:endParaRPr lang="en-US" b="0" i="0" dirty="0">
              <a:solidFill>
                <a:srgbClr val="000000"/>
              </a:solidFill>
              <a:effectLst/>
              <a:latin typeface="Ember Display"/>
            </a:endParaRPr>
          </a:p>
          <a:p>
            <a:r>
              <a:rPr lang="en-US" b="0" i="0" dirty="0">
                <a:solidFill>
                  <a:srgbClr val="000000"/>
                </a:solidFill>
                <a:effectLst/>
                <a:latin typeface="Ember Display"/>
              </a:rPr>
              <a:t>In </a:t>
            </a:r>
            <a:r>
              <a:rPr lang="en-US" b="0" i="1" dirty="0">
                <a:solidFill>
                  <a:srgbClr val="000000"/>
                </a:solidFill>
                <a:effectLst/>
                <a:latin typeface="Ember Display"/>
              </a:rPr>
              <a:t>reinforcement learning</a:t>
            </a:r>
            <a:r>
              <a:rPr lang="en-US" b="0" i="0" dirty="0">
                <a:solidFill>
                  <a:srgbClr val="000000"/>
                </a:solidFill>
                <a:effectLst/>
                <a:latin typeface="Ember Display"/>
              </a:rPr>
              <a:t>, the machine is given only a performance score as guidance and semi-supervised learning, where only a portion of training data is labeled. Feedback is provided in the form of rewards or penalties for its actions, and the machine learns from this feedback to improve its decision-making over time.</a:t>
            </a:r>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9</a:t>
            </a:fld>
            <a:endParaRPr lang="en-US"/>
          </a:p>
        </p:txBody>
      </p:sp>
      <p:sp>
        <p:nvSpPr>
          <p:cNvPr id="5" name="Footer Placeholder 4">
            <a:extLst>
              <a:ext uri="{FF2B5EF4-FFF2-40B4-BE49-F238E27FC236}">
                <a16:creationId xmlns:a16="http://schemas.microsoft.com/office/drawing/2014/main" id="{124A45D1-6C80-B174-732D-3CF805EF3082}"/>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2780855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000000"/>
                </a:solidFill>
                <a:effectLst/>
                <a:latin typeface="Ember Display"/>
              </a:rPr>
              <a:t>After the model has been trained, it is time to begin the process of using the information that a model has learned to make predictions or decisions. This is called inferencing.</a:t>
            </a:r>
          </a:p>
          <a:p>
            <a:pPr algn="l" fontAlgn="base"/>
            <a:r>
              <a:rPr lang="en-US" b="0" i="0" dirty="0">
                <a:solidFill>
                  <a:srgbClr val="000000"/>
                </a:solidFill>
                <a:effectLst/>
                <a:latin typeface="Ember Display"/>
              </a:rPr>
              <a:t>There are two main types of inferencing in machine learning: batch inferencing and real-time inferencing.</a:t>
            </a:r>
          </a:p>
          <a:p>
            <a:pPr algn="l" fontAlgn="base"/>
            <a:endParaRPr lang="en-US" b="0" i="0" dirty="0">
              <a:solidFill>
                <a:srgbClr val="000000"/>
              </a:solidFill>
              <a:effectLst/>
              <a:latin typeface="Ember Display"/>
            </a:endParaRPr>
          </a:p>
          <a:p>
            <a:pPr algn="l" fontAlgn="base"/>
            <a:r>
              <a:rPr lang="en-US" b="0" i="0" dirty="0">
                <a:solidFill>
                  <a:srgbClr val="000000"/>
                </a:solidFill>
                <a:effectLst/>
                <a:latin typeface="Ember Display"/>
              </a:rPr>
              <a:t>Batch inferencing is when the computer takes a large amount of data, such as images or text, and analyzes it all at once to provide a set of results. This type of inferencing is often used for tasks like data analysis, where the speed of the decision-making process is not as crucial as the accuracy of the results.</a:t>
            </a:r>
          </a:p>
          <a:p>
            <a:pPr algn="l" fontAlgn="base"/>
            <a:endParaRPr lang="en-US" b="0" i="0" dirty="0">
              <a:solidFill>
                <a:srgbClr val="000000"/>
              </a:solidFill>
              <a:effectLst/>
              <a:latin typeface="Ember Display"/>
            </a:endParaRPr>
          </a:p>
          <a:p>
            <a:pPr algn="l" fontAlgn="base"/>
            <a:r>
              <a:rPr lang="en-US" b="0" i="0" dirty="0">
                <a:solidFill>
                  <a:srgbClr val="000000"/>
                </a:solidFill>
                <a:effectLst/>
                <a:latin typeface="Ember Display"/>
              </a:rPr>
              <a:t>Real-time inferencing is when the computer has to make decisions quickly, in response to new information as it comes in. This is important for applications where immediate decision-making is critical, such as in chatbots or self-driving cars. The computer has to process the incoming data and make a decision almost instantaneously, without taking the time to analyze a large dataset.</a:t>
            </a:r>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10</a:t>
            </a:fld>
            <a:endParaRPr lang="en-US"/>
          </a:p>
        </p:txBody>
      </p:sp>
      <p:sp>
        <p:nvSpPr>
          <p:cNvPr id="5" name="Footer Placeholder 4">
            <a:extLst>
              <a:ext uri="{FF2B5EF4-FFF2-40B4-BE49-F238E27FC236}">
                <a16:creationId xmlns:a16="http://schemas.microsoft.com/office/drawing/2014/main" id="{BF6B4FCD-DB00-C926-96EB-1AECEC9A032A}"/>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448270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Ember Display"/>
              </a:rPr>
              <a:t>It involves the use of artificial neural networks, which are computational models that are designed to mimic the way the human brain processes information.</a:t>
            </a:r>
          </a:p>
          <a:p>
            <a:r>
              <a:rPr lang="en-US" sz="1200" dirty="0"/>
              <a:t>Computer Vision – image classification, object detection, image segmentation</a:t>
            </a:r>
          </a:p>
          <a:p>
            <a:r>
              <a:rPr lang="en-US" sz="1200" dirty="0"/>
              <a:t>Natural Language Processing (NLP) – text classification, sentiment analysis, machine translation, language generation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Ember Display"/>
            </a:endParaRPr>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11</a:t>
            </a:fld>
            <a:endParaRPr lang="en-US"/>
          </a:p>
        </p:txBody>
      </p:sp>
      <p:sp>
        <p:nvSpPr>
          <p:cNvPr id="5" name="Footer Placeholder 4">
            <a:extLst>
              <a:ext uri="{FF2B5EF4-FFF2-40B4-BE49-F238E27FC236}">
                <a16:creationId xmlns:a16="http://schemas.microsoft.com/office/drawing/2014/main" id="{11FEB902-931E-F4BF-3A17-12D26639EFC2}"/>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3469021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Ember Display"/>
              </a:rPr>
              <a:t>Machine learning has been around for decades, which begs the question, what has led to the emergence of generative AI right now? The answer is as straightforward as huge investments in resources. Hiring a large team, spending on compute resources, and importantly, having the willingness to invest and develop big ideas, are all contributors to the rise of generative AI.</a:t>
            </a:r>
          </a:p>
          <a:p>
            <a:endParaRPr lang="en-US" b="0" i="0" dirty="0">
              <a:solidFill>
                <a:srgbClr val="000000"/>
              </a:solidFill>
              <a:effectLst/>
              <a:latin typeface="Ember Display"/>
            </a:endParaRPr>
          </a:p>
          <a:p>
            <a:pPr algn="l" fontAlgn="base"/>
            <a:r>
              <a:rPr lang="en-US" b="0" i="0" dirty="0">
                <a:solidFill>
                  <a:srgbClr val="000000"/>
                </a:solidFill>
                <a:effectLst/>
                <a:latin typeface="Ember Display"/>
              </a:rPr>
              <a:t>With FMs, instead of gathering labeled data for each model and training multiple models as in traditional ML, you can adapt a single FM to perform multiple tasks. These tasks include text generation, text summarization, information extraction, image generation, chatbot interactions, and question answering. FMs can also serve as the starting point for developing more specialized models.</a:t>
            </a:r>
          </a:p>
          <a:p>
            <a:endParaRPr lang="en-US" dirty="0"/>
          </a:p>
          <a:p>
            <a:pPr algn="l" fontAlgn="base"/>
            <a:r>
              <a:rPr lang="en-US" b="1" i="0" dirty="0">
                <a:solidFill>
                  <a:srgbClr val="000000"/>
                </a:solidFill>
                <a:effectLst/>
                <a:latin typeface="var(--font-family-head)"/>
              </a:rPr>
              <a:t>Data selection</a:t>
            </a:r>
          </a:p>
          <a:p>
            <a:pPr algn="l" fontAlgn="base"/>
            <a:r>
              <a:rPr lang="en-US" b="0" i="0" dirty="0">
                <a:solidFill>
                  <a:srgbClr val="000000"/>
                </a:solidFill>
                <a:effectLst/>
                <a:latin typeface="inherit"/>
              </a:rPr>
              <a:t>Unlabeled data can be used at scale for pre-training because it is much easier to obtain compared to labeled data. Unlabeled data includes raw data, such as images, text files, or videos, with no meaningful informative labels to provide context. FMs require training on massive datasets from diverse sources.</a:t>
            </a:r>
          </a:p>
          <a:p>
            <a:pPr algn="l" fontAlgn="base"/>
            <a:r>
              <a:rPr lang="en-US" b="1" i="0" dirty="0">
                <a:solidFill>
                  <a:srgbClr val="000000"/>
                </a:solidFill>
                <a:effectLst/>
                <a:latin typeface="var(--font-family-head)"/>
              </a:rPr>
              <a:t>Pre-training</a:t>
            </a:r>
          </a:p>
          <a:p>
            <a:pPr algn="l" fontAlgn="base"/>
            <a:r>
              <a:rPr lang="en-US" b="0" i="0" dirty="0">
                <a:solidFill>
                  <a:srgbClr val="000000"/>
                </a:solidFill>
                <a:effectLst/>
                <a:latin typeface="inherit"/>
              </a:rPr>
              <a:t>Although traditional ML models rely on supervised, unsupervised, or reinforcement learning patterns, FMs are typically pre-trained through self-supervised learning. With self-supervised learning, labeled examples are not required. Self-supervised learning makes use of the structure within the data to autogenerate labels.</a:t>
            </a:r>
          </a:p>
          <a:p>
            <a:pPr algn="l" fontAlgn="base"/>
            <a:r>
              <a:rPr lang="en-US" b="0" i="0" dirty="0">
                <a:solidFill>
                  <a:srgbClr val="000000"/>
                </a:solidFill>
                <a:effectLst/>
                <a:latin typeface="inherit"/>
              </a:rPr>
              <a:t>During the initial pre-training stage, the FM's algorithm can learn the meaning, context, and relationship of the words in the datasets. For example, the model might learn whether drink means beverage, the noun, or swallowing the liquid, the verb.</a:t>
            </a:r>
            <a:br>
              <a:rPr lang="en-US" b="0" i="0" dirty="0">
                <a:solidFill>
                  <a:srgbClr val="000000"/>
                </a:solidFill>
                <a:effectLst/>
                <a:latin typeface="inherit"/>
              </a:rPr>
            </a:br>
            <a:br>
              <a:rPr lang="en-US" b="0" i="0" dirty="0">
                <a:solidFill>
                  <a:srgbClr val="000000"/>
                </a:solidFill>
                <a:effectLst/>
                <a:latin typeface="inherit"/>
              </a:rPr>
            </a:br>
            <a:r>
              <a:rPr lang="en-US" b="0" i="0" dirty="0">
                <a:solidFill>
                  <a:srgbClr val="000000"/>
                </a:solidFill>
                <a:effectLst/>
                <a:latin typeface="inherit"/>
              </a:rPr>
              <a:t>After the initial pre-training, the model can be further pre-trained on additional data. This is known as continuous pre-training. The goal is to expand the model's knowledge base and improve its ability to understand and generalize across different domains or tasks.</a:t>
            </a:r>
          </a:p>
          <a:p>
            <a:pPr algn="l" fontAlgn="base"/>
            <a:r>
              <a:rPr lang="en-US" b="1" i="0" dirty="0">
                <a:solidFill>
                  <a:srgbClr val="000000"/>
                </a:solidFill>
                <a:effectLst/>
                <a:latin typeface="var(--font-family-head)"/>
              </a:rPr>
              <a:t>Optimization</a:t>
            </a:r>
          </a:p>
          <a:p>
            <a:pPr algn="l" fontAlgn="base"/>
            <a:r>
              <a:rPr lang="en-US" b="0" i="0" dirty="0">
                <a:solidFill>
                  <a:srgbClr val="000000"/>
                </a:solidFill>
                <a:effectLst/>
                <a:latin typeface="inherit"/>
              </a:rPr>
              <a:t>Pre-trained language models can be optimized through techniques like prompt engineering, retrieval-augmented generation (RAG), and fine-tuning on task-specific data. These methods will vary in complexity and cost and will be discussed later in this lesson.</a:t>
            </a:r>
          </a:p>
          <a:p>
            <a:pPr algn="l" fontAlgn="base"/>
            <a:r>
              <a:rPr lang="en-US" b="1" i="0" dirty="0">
                <a:solidFill>
                  <a:srgbClr val="000000"/>
                </a:solidFill>
                <a:effectLst/>
                <a:latin typeface="var(--font-family-head)"/>
              </a:rPr>
              <a:t>Evaluation</a:t>
            </a:r>
          </a:p>
          <a:p>
            <a:pPr algn="l" fontAlgn="base"/>
            <a:r>
              <a:rPr lang="en-US" b="0" i="0" dirty="0">
                <a:solidFill>
                  <a:srgbClr val="000000"/>
                </a:solidFill>
                <a:effectLst/>
                <a:latin typeface="inherit"/>
              </a:rPr>
              <a:t>Whether or not you fine-tune a model or use a pre-trained model off the shelf, the next logical step is to evaluate the model. An FM's performance can be measured using appropriate metrics and benchmarks. Evaluation of model performance and its ability to meet business needs is important.</a:t>
            </a:r>
          </a:p>
          <a:p>
            <a:pPr algn="l" fontAlgn="base"/>
            <a:r>
              <a:rPr lang="en-US" b="1" i="0" dirty="0">
                <a:solidFill>
                  <a:srgbClr val="000000"/>
                </a:solidFill>
                <a:effectLst/>
                <a:latin typeface="var(--font-family-head)"/>
              </a:rPr>
              <a:t>Deployment</a:t>
            </a:r>
          </a:p>
          <a:p>
            <a:pPr algn="l" fontAlgn="base"/>
            <a:r>
              <a:rPr lang="en-US" b="0" i="0" dirty="0">
                <a:solidFill>
                  <a:srgbClr val="000000"/>
                </a:solidFill>
                <a:effectLst/>
                <a:latin typeface="inherit"/>
              </a:rPr>
              <a:t>When the FM meets the desired performance criteria, it can be deployed in the target production environment. Deployment can involve integrating the model into applications, APIs, or other software systems.</a:t>
            </a:r>
          </a:p>
          <a:p>
            <a:pPr algn="l" fontAlgn="base"/>
            <a:r>
              <a:rPr lang="en-US" b="1" i="0" dirty="0">
                <a:solidFill>
                  <a:srgbClr val="000000"/>
                </a:solidFill>
                <a:effectLst/>
                <a:latin typeface="var(--font-family-head)"/>
              </a:rPr>
              <a:t>Feedback and continuous improvement</a:t>
            </a:r>
          </a:p>
          <a:p>
            <a:pPr algn="l" fontAlgn="base"/>
            <a:r>
              <a:rPr lang="en-US" b="0" i="0" dirty="0">
                <a:solidFill>
                  <a:srgbClr val="000000"/>
                </a:solidFill>
                <a:effectLst/>
                <a:latin typeface="inherit"/>
              </a:rPr>
              <a:t>After deployment, the model's performance is continuously monitored, and feedback is collected from users, domain experts, or other stakeholders. This feedback, along with model monitoring data, is used to identify areas for improvement, detect potential biases or drift, and inform future iterations of the model. The feedback loop permits continuous enhancement of the foundation model through fine-tuning, continuous pre-training, or re-training, as needed.</a:t>
            </a:r>
          </a:p>
          <a:p>
            <a:pPr algn="l" fontAlgn="base"/>
            <a:endParaRPr lang="en-US" b="0" i="0" dirty="0">
              <a:solidFill>
                <a:srgbClr val="000000"/>
              </a:solidFill>
              <a:effectLst/>
              <a:latin typeface="inherit"/>
            </a:endParaRPr>
          </a:p>
          <a:p>
            <a:pPr algn="l" fontAlgn="base"/>
            <a:endParaRPr lang="en-US" b="0" i="0" dirty="0">
              <a:solidFill>
                <a:srgbClr val="000000"/>
              </a:solidFill>
              <a:effectLst/>
              <a:latin typeface="inherit"/>
            </a:endParaRPr>
          </a:p>
          <a:p>
            <a:pPr algn="l" fontAlgn="base"/>
            <a:endParaRPr lang="en-US" b="0" i="0" dirty="0">
              <a:solidFill>
                <a:srgbClr val="000000"/>
              </a:solidFill>
              <a:effectLst/>
              <a:latin typeface="inherit"/>
            </a:endParaRPr>
          </a:p>
          <a:p>
            <a:pPr algn="l" fontAlgn="base"/>
            <a:endParaRPr lang="en-US" b="0" i="0" dirty="0">
              <a:solidFill>
                <a:srgbClr val="000000"/>
              </a:solidFill>
              <a:effectLst/>
              <a:latin typeface="inherit"/>
            </a:endParaRPr>
          </a:p>
          <a:p>
            <a:pPr algn="l" fontAlgn="base"/>
            <a:endParaRPr lang="en-US" b="0" i="0" dirty="0">
              <a:solidFill>
                <a:srgbClr val="000000"/>
              </a:solidFill>
              <a:effectLst/>
              <a:latin typeface="inherit"/>
            </a:endParaRPr>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12</a:t>
            </a:fld>
            <a:endParaRPr lang="en-US"/>
          </a:p>
        </p:txBody>
      </p:sp>
      <p:sp>
        <p:nvSpPr>
          <p:cNvPr id="5" name="Footer Placeholder 4">
            <a:extLst>
              <a:ext uri="{FF2B5EF4-FFF2-40B4-BE49-F238E27FC236}">
                <a16:creationId xmlns:a16="http://schemas.microsoft.com/office/drawing/2014/main" id="{2E4E54CD-75F2-37EB-F141-7EE643F2D5B9}"/>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1534793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000000"/>
                </a:solidFill>
                <a:effectLst/>
                <a:latin typeface="Ember Display"/>
              </a:rPr>
              <a:t>Large language models (LLMs) </a:t>
            </a:r>
            <a:r>
              <a:rPr lang="en-US" dirty="0"/>
              <a:t>Type of AI designed to generate coherent human-like text • One notable example: GPT-4 (ChatGPT / Open AI) • Trained on large corpus of text data. Usually very big models • Billions of parameters • Trained on books, articles, websites, other textual data. Can perform language-related tasks • Translation, Summarization • Question answering • Content creation</a:t>
            </a:r>
            <a:endParaRPr lang="en-US" b="0" i="0" dirty="0">
              <a:solidFill>
                <a:srgbClr val="000000"/>
              </a:solidFill>
              <a:effectLst/>
              <a:latin typeface="Ember Display"/>
            </a:endParaRPr>
          </a:p>
          <a:p>
            <a:endParaRPr lang="en-US" b="0" i="0" dirty="0">
              <a:solidFill>
                <a:srgbClr val="000000"/>
              </a:solidFill>
              <a:effectLst/>
              <a:latin typeface="Ember Display"/>
            </a:endParaRPr>
          </a:p>
          <a:p>
            <a:pPr algn="l" fontAlgn="base" latinLnBrk="0"/>
            <a:r>
              <a:rPr lang="en-US" b="1" i="0" dirty="0">
                <a:solidFill>
                  <a:srgbClr val="000000"/>
                </a:solidFill>
                <a:effectLst/>
                <a:latin typeface="inherit"/>
              </a:rPr>
              <a:t>Diffusion models</a:t>
            </a:r>
          </a:p>
          <a:p>
            <a:pPr algn="l" fontAlgn="base" latinLnBrk="0"/>
            <a:r>
              <a:rPr lang="en-US" b="0" i="0" dirty="0">
                <a:solidFill>
                  <a:srgbClr val="000000"/>
                </a:solidFill>
                <a:effectLst/>
                <a:latin typeface="inherit"/>
              </a:rPr>
              <a:t>Diffusion is a deep learning architecture system that starts with pure noise or random data. The models gradually add more and more meaningful information to this noise until they end up with a clear and coherent output, like an image or a piece of text. Diffusion models learn through a two-step process of forward diffusion and reverse diffusion.</a:t>
            </a:r>
          </a:p>
          <a:p>
            <a:pPr algn="l" fontAlgn="base" latinLnBrk="0"/>
            <a:endParaRPr lang="en-US" b="0" i="0" dirty="0">
              <a:solidFill>
                <a:srgbClr val="000000"/>
              </a:solidFill>
              <a:effectLst/>
              <a:latin typeface="inherit"/>
            </a:endParaRPr>
          </a:p>
          <a:p>
            <a:pPr algn="l" fontAlgn="base" latinLnBrk="0"/>
            <a:r>
              <a:rPr lang="en-US" b="1" i="0" dirty="0">
                <a:solidFill>
                  <a:srgbClr val="000000"/>
                </a:solidFill>
                <a:effectLst/>
                <a:latin typeface="inherit"/>
              </a:rPr>
              <a:t>Multimodal models</a:t>
            </a:r>
            <a:endParaRPr lang="en-US" b="0" i="0" dirty="0">
              <a:solidFill>
                <a:srgbClr val="000000"/>
              </a:solidFill>
              <a:effectLst/>
              <a:latin typeface="Ember Display"/>
            </a:endParaRPr>
          </a:p>
          <a:p>
            <a:pPr algn="l" fontAlgn="base" latinLnBrk="0"/>
            <a:r>
              <a:rPr lang="en-US" b="0" i="0" dirty="0">
                <a:solidFill>
                  <a:srgbClr val="000000"/>
                </a:solidFill>
                <a:effectLst/>
                <a:latin typeface="Ember Display"/>
              </a:rPr>
              <a:t>Instead of just relying on a single type of input or output, like text or images, multimodal models can process and generate multiple modes of data simultaneously. For example, a multimodal model could take in an image and some text as input, and then generate a new image and a caption describing it as output.</a:t>
            </a:r>
            <a:endParaRPr lang="en-US" b="0" i="0" dirty="0">
              <a:solidFill>
                <a:srgbClr val="000000"/>
              </a:solidFill>
              <a:effectLst/>
              <a:latin typeface="inherit"/>
            </a:endParaRPr>
          </a:p>
          <a:p>
            <a:endParaRPr lang="en-US" dirty="0"/>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14</a:t>
            </a:fld>
            <a:endParaRPr lang="en-US"/>
          </a:p>
        </p:txBody>
      </p:sp>
      <p:sp>
        <p:nvSpPr>
          <p:cNvPr id="5" name="Footer Placeholder 4">
            <a:extLst>
              <a:ext uri="{FF2B5EF4-FFF2-40B4-BE49-F238E27FC236}">
                <a16:creationId xmlns:a16="http://schemas.microsoft.com/office/drawing/2014/main" id="{8BDD4106-5A6F-F25E-0D52-E12BF752C3E8}"/>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3538575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Ember Display"/>
              </a:rPr>
              <a:t>An FM can be further optimized in several different ways. These techniques vary in complexity and cost, with the fastest and lowest cost option being prompt engineering.</a:t>
            </a:r>
          </a:p>
          <a:p>
            <a:endParaRPr lang="en-US" b="0" i="0" dirty="0">
              <a:solidFill>
                <a:srgbClr val="000000"/>
              </a:solidFill>
              <a:effectLst/>
              <a:latin typeface="Ember Display"/>
            </a:endParaRPr>
          </a:p>
          <a:p>
            <a:pPr algn="l" fontAlgn="base"/>
            <a:r>
              <a:rPr lang="en-US" b="1" i="0" dirty="0">
                <a:solidFill>
                  <a:srgbClr val="000000"/>
                </a:solidFill>
                <a:effectLst/>
                <a:latin typeface="inherit"/>
              </a:rPr>
              <a:t>Prompt Engineering: </a:t>
            </a:r>
            <a:r>
              <a:rPr lang="en-US" b="0" i="0" dirty="0">
                <a:solidFill>
                  <a:srgbClr val="000000"/>
                </a:solidFill>
                <a:effectLst/>
                <a:latin typeface="inherit"/>
              </a:rPr>
              <a:t>Prompts act as instructions for foundation models. Prompt engineering focuses on developing, designing, and optimizing prompts to enhance the output of FMs for your needs. It gives you a way to guide the model's behavior to the outcomes that you want to achieve.</a:t>
            </a:r>
          </a:p>
          <a:p>
            <a:pPr algn="l" fontAlgn="base" latinLnBrk="0"/>
            <a:r>
              <a:rPr lang="en-US" b="0" i="0" dirty="0">
                <a:solidFill>
                  <a:srgbClr val="000000"/>
                </a:solidFill>
                <a:effectLst/>
                <a:latin typeface="inherit"/>
              </a:rPr>
              <a:t>A prompt's form depends on the task that you are giving to a model. As you explore prompt engineering examples, you will review prompts containing some or all of the following elements:</a:t>
            </a:r>
          </a:p>
          <a:p>
            <a:pPr algn="l" fontAlgn="base">
              <a:buFont typeface="Arial" panose="020B0604020202020204" pitchFamily="34" charset="0"/>
              <a:buChar char="•"/>
            </a:pPr>
            <a:r>
              <a:rPr lang="en-US" b="0" i="0" dirty="0">
                <a:solidFill>
                  <a:srgbClr val="000000"/>
                </a:solidFill>
                <a:effectLst/>
                <a:latin typeface="lato" panose="020F0502020204030203" pitchFamily="34" charset="0"/>
              </a:rPr>
              <a:t>•</a:t>
            </a:r>
            <a:r>
              <a:rPr lang="en-US" b="1" i="0" dirty="0">
                <a:solidFill>
                  <a:srgbClr val="000000"/>
                </a:solidFill>
                <a:effectLst/>
                <a:latin typeface="inherit"/>
              </a:rPr>
              <a:t>Instructions</a:t>
            </a:r>
            <a:r>
              <a:rPr lang="en-US" b="0" i="0" dirty="0">
                <a:solidFill>
                  <a:srgbClr val="000000"/>
                </a:solidFill>
                <a:effectLst/>
                <a:latin typeface="inherit"/>
              </a:rPr>
              <a:t>: This is a task for the FM to do. It provides a task description or instruction for how the model should perform.</a:t>
            </a:r>
          </a:p>
          <a:p>
            <a:pPr algn="l" fontAlgn="base">
              <a:buFont typeface="Arial" panose="020B0604020202020204" pitchFamily="34" charset="0"/>
              <a:buChar char="•"/>
            </a:pPr>
            <a:r>
              <a:rPr lang="en-US" b="0" i="0" dirty="0">
                <a:solidFill>
                  <a:srgbClr val="000000"/>
                </a:solidFill>
                <a:effectLst/>
                <a:latin typeface="lato" panose="020F0502020204030203" pitchFamily="34" charset="0"/>
              </a:rPr>
              <a:t>•</a:t>
            </a:r>
            <a:r>
              <a:rPr lang="en-US" b="1" i="0" dirty="0">
                <a:solidFill>
                  <a:srgbClr val="000000"/>
                </a:solidFill>
                <a:effectLst/>
                <a:latin typeface="inherit"/>
              </a:rPr>
              <a:t>Context</a:t>
            </a:r>
            <a:r>
              <a:rPr lang="en-US" b="0" i="0" dirty="0">
                <a:solidFill>
                  <a:srgbClr val="000000"/>
                </a:solidFill>
                <a:effectLst/>
                <a:latin typeface="inherit"/>
              </a:rPr>
              <a:t>: This is external information to guide the model.</a:t>
            </a:r>
          </a:p>
          <a:p>
            <a:pPr algn="l" fontAlgn="base">
              <a:buFont typeface="Arial" panose="020B0604020202020204" pitchFamily="34" charset="0"/>
              <a:buChar char="•"/>
            </a:pPr>
            <a:r>
              <a:rPr lang="en-US" b="0" i="0" dirty="0">
                <a:solidFill>
                  <a:srgbClr val="000000"/>
                </a:solidFill>
                <a:effectLst/>
                <a:latin typeface="lato" panose="020F0502020204030203" pitchFamily="34" charset="0"/>
              </a:rPr>
              <a:t>•</a:t>
            </a:r>
            <a:r>
              <a:rPr lang="en-US" b="1" i="0" dirty="0">
                <a:solidFill>
                  <a:srgbClr val="000000"/>
                </a:solidFill>
                <a:effectLst/>
                <a:latin typeface="inherit"/>
              </a:rPr>
              <a:t>Input data</a:t>
            </a:r>
            <a:r>
              <a:rPr lang="en-US" b="0" i="0" dirty="0">
                <a:solidFill>
                  <a:srgbClr val="000000"/>
                </a:solidFill>
                <a:effectLst/>
                <a:latin typeface="inherit"/>
              </a:rPr>
              <a:t>: This is the input for which you want a response.</a:t>
            </a:r>
          </a:p>
          <a:p>
            <a:pPr algn="l" fontAlgn="base">
              <a:buFont typeface="Arial" panose="020B0604020202020204" pitchFamily="34" charset="0"/>
              <a:buChar char="•"/>
            </a:pPr>
            <a:r>
              <a:rPr lang="en-US" b="0" i="0" dirty="0">
                <a:solidFill>
                  <a:srgbClr val="000000"/>
                </a:solidFill>
                <a:effectLst/>
                <a:latin typeface="lato" panose="020F0502020204030203" pitchFamily="34" charset="0"/>
              </a:rPr>
              <a:t>•</a:t>
            </a:r>
            <a:r>
              <a:rPr lang="en-US" b="1" i="0" dirty="0">
                <a:solidFill>
                  <a:srgbClr val="000000"/>
                </a:solidFill>
                <a:effectLst/>
                <a:latin typeface="inherit"/>
              </a:rPr>
              <a:t>Output indicator</a:t>
            </a:r>
            <a:r>
              <a:rPr lang="en-US" b="0" i="0" dirty="0">
                <a:solidFill>
                  <a:srgbClr val="000000"/>
                </a:solidFill>
                <a:effectLst/>
                <a:latin typeface="inherit"/>
              </a:rPr>
              <a:t>: This is the output type or format.</a:t>
            </a:r>
          </a:p>
          <a:p>
            <a:endParaRPr lang="en-US" dirty="0"/>
          </a:p>
          <a:p>
            <a:r>
              <a:rPr lang="en-US" b="1" dirty="0"/>
              <a:t>Fine-</a:t>
            </a:r>
            <a:r>
              <a:rPr lang="en-US" b="1" dirty="0" err="1"/>
              <a:t>tunining</a:t>
            </a:r>
            <a:r>
              <a:rPr lang="en-US" b="1" dirty="0"/>
              <a:t>: </a:t>
            </a:r>
            <a:r>
              <a:rPr lang="en-US" b="0" i="0" dirty="0">
                <a:solidFill>
                  <a:srgbClr val="000000"/>
                </a:solidFill>
                <a:effectLst/>
                <a:latin typeface="Ember Display"/>
              </a:rPr>
              <a:t>Although FMs are pre-trained through self-supervised learning and have inherent capability of understanding information, fine-tuning the FM base model can improve performance. Fine-tuning is a supervised learning process that involves taking a pre-trained model and adding specific, smaller datasets. Adding these narrower datasets modifies the weights of the data to better align with the task.</a:t>
            </a:r>
          </a:p>
          <a:p>
            <a:endParaRPr lang="en-US" b="0" i="0" dirty="0">
              <a:solidFill>
                <a:srgbClr val="000000"/>
              </a:solidFill>
              <a:effectLst/>
              <a:latin typeface="Ember Display"/>
            </a:endParaRPr>
          </a:p>
          <a:p>
            <a:pPr algn="l" fontAlgn="base">
              <a:buFont typeface="Arial" panose="020B0604020202020204" pitchFamily="34" charset="0"/>
              <a:buChar char="•"/>
            </a:pPr>
            <a:r>
              <a:rPr lang="en-US" b="1" i="0" dirty="0">
                <a:solidFill>
                  <a:srgbClr val="000000"/>
                </a:solidFill>
                <a:effectLst/>
                <a:latin typeface="inherit"/>
              </a:rPr>
              <a:t>Instruction fine-tuning </a:t>
            </a:r>
            <a:r>
              <a:rPr lang="en-US" b="0" i="0" dirty="0">
                <a:solidFill>
                  <a:srgbClr val="000000"/>
                </a:solidFill>
                <a:effectLst/>
                <a:latin typeface="inherit"/>
              </a:rPr>
              <a:t>uses examples of how the model should respond to a specific instruction. Prompt tuning is a type of instruction fine-tuning.</a:t>
            </a:r>
          </a:p>
          <a:p>
            <a:pPr algn="l" fontAlgn="base">
              <a:buFont typeface="Arial" panose="020B0604020202020204" pitchFamily="34" charset="0"/>
              <a:buChar char="•"/>
            </a:pPr>
            <a:r>
              <a:rPr lang="en-US" b="0" i="0" dirty="0">
                <a:solidFill>
                  <a:srgbClr val="000000"/>
                </a:solidFill>
                <a:effectLst/>
                <a:latin typeface="lato" panose="020F0502020204030203" pitchFamily="34" charset="0"/>
              </a:rPr>
              <a:t>•</a:t>
            </a:r>
            <a:r>
              <a:rPr lang="en-US" b="1" i="0" dirty="0">
                <a:solidFill>
                  <a:srgbClr val="000000"/>
                </a:solidFill>
                <a:effectLst/>
                <a:latin typeface="inherit"/>
              </a:rPr>
              <a:t>Reinforcement learning from human feedback (RLHF)</a:t>
            </a:r>
            <a:r>
              <a:rPr lang="en-US" b="0" i="0" dirty="0">
                <a:solidFill>
                  <a:srgbClr val="000000"/>
                </a:solidFill>
                <a:effectLst/>
                <a:latin typeface="inherit"/>
              </a:rPr>
              <a:t> provides human feedback data, resulting in a model that is better aligned with human preferences.</a:t>
            </a:r>
          </a:p>
          <a:p>
            <a:pPr algn="l" fontAlgn="base">
              <a:buFont typeface="Arial" panose="020B0604020202020204" pitchFamily="34" charset="0"/>
              <a:buChar char="•"/>
            </a:pPr>
            <a:endParaRPr lang="en-US" b="0" i="0" dirty="0">
              <a:solidFill>
                <a:srgbClr val="000000"/>
              </a:solidFill>
              <a:effectLst/>
              <a:latin typeface="inherit"/>
            </a:endParaRPr>
          </a:p>
          <a:p>
            <a:pPr algn="l" fontAlgn="base">
              <a:buFont typeface="Arial" panose="020B0604020202020204" pitchFamily="34" charset="0"/>
              <a:buNone/>
            </a:pPr>
            <a:r>
              <a:rPr lang="en-US" b="1" i="0" dirty="0">
                <a:solidFill>
                  <a:srgbClr val="000000"/>
                </a:solidFill>
                <a:effectLst/>
                <a:latin typeface="Ember Display"/>
              </a:rPr>
              <a:t>Retrieval-augmented generation (RAG)</a:t>
            </a:r>
            <a:r>
              <a:rPr lang="en-US" b="0" i="0" dirty="0">
                <a:solidFill>
                  <a:srgbClr val="000000"/>
                </a:solidFill>
                <a:effectLst/>
                <a:latin typeface="Ember Display"/>
              </a:rPr>
              <a:t> is a technique that supplies domain-relevant data as context to produce responses based on that data. This technique is similar to fine-tuning. However, rather than having to fine-tune an FM with a small set of labeled examples, RAG retrieves a small set of relevant documents and uses that to provide context to answer the user prompt. RAG will not change the weights of the foundation model, whereas fine-tuning will change model weights.</a:t>
            </a:r>
            <a:endParaRPr lang="en-US" b="0" i="0" dirty="0">
              <a:solidFill>
                <a:srgbClr val="000000"/>
              </a:solidFill>
              <a:effectLst/>
              <a:latin typeface="inherit"/>
            </a:endParaRPr>
          </a:p>
          <a:p>
            <a:endParaRPr lang="en-US" b="1" dirty="0"/>
          </a:p>
        </p:txBody>
      </p:sp>
      <p:sp>
        <p:nvSpPr>
          <p:cNvPr id="4" name="Slide Number Placeholder 3"/>
          <p:cNvSpPr>
            <a:spLocks noGrp="1"/>
          </p:cNvSpPr>
          <p:nvPr>
            <p:ph type="sldNum" sz="quarter" idx="5"/>
          </p:nvPr>
        </p:nvSpPr>
        <p:spPr/>
        <p:txBody>
          <a:bodyPr/>
          <a:lstStyle/>
          <a:p>
            <a:fld id="{2C5DC2D9-6E94-4E31-ACDD-1E8D9B4BB84C}" type="slidenum">
              <a:rPr lang="en-US" smtClean="0"/>
              <a:t>15</a:t>
            </a:fld>
            <a:endParaRPr lang="en-US"/>
          </a:p>
        </p:txBody>
      </p:sp>
      <p:sp>
        <p:nvSpPr>
          <p:cNvPr id="5" name="Footer Placeholder 4">
            <a:extLst>
              <a:ext uri="{FF2B5EF4-FFF2-40B4-BE49-F238E27FC236}">
                <a16:creationId xmlns:a16="http://schemas.microsoft.com/office/drawing/2014/main" id="{D6A94EB3-623A-8E97-A881-31A196355699}"/>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12680014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solidFill>
                  <a:srgbClr val="000000"/>
                </a:solidFill>
                <a:effectLst/>
                <a:latin typeface="Calibri" panose="020F0502020204030204" pitchFamily="34" charset="0"/>
              </a:rPr>
              <a:t>AWS offers a comprehensive suite of ML and generative AI services that unlock the full potential of these transformative technologies. </a:t>
            </a:r>
          </a:p>
          <a:p>
            <a:endParaRPr lang="en-US" sz="1800" dirty="0">
              <a:solidFill>
                <a:srgbClr val="000000"/>
              </a:solidFill>
              <a:effectLst/>
              <a:latin typeface="Calibri" panose="020F0502020204030204" pitchFamily="34" charset="0"/>
            </a:endParaRPr>
          </a:p>
        </p:txBody>
      </p:sp>
      <p:sp>
        <p:nvSpPr>
          <p:cNvPr id="4" name="Slide Number Placeholder 3"/>
          <p:cNvSpPr>
            <a:spLocks noGrp="1"/>
          </p:cNvSpPr>
          <p:nvPr>
            <p:ph type="sldNum" sz="quarter" idx="5"/>
          </p:nvPr>
        </p:nvSpPr>
        <p:spPr/>
        <p:txBody>
          <a:bodyPr/>
          <a:lstStyle/>
          <a:p>
            <a:fld id="{2C5DC2D9-6E94-4E31-ACDD-1E8D9B4BB84C}" type="slidenum">
              <a:rPr lang="en-US" smtClean="0"/>
              <a:t>16</a:t>
            </a:fld>
            <a:endParaRPr lang="en-US"/>
          </a:p>
        </p:txBody>
      </p:sp>
      <p:sp>
        <p:nvSpPr>
          <p:cNvPr id="5" name="Footer Placeholder 4">
            <a:extLst>
              <a:ext uri="{FF2B5EF4-FFF2-40B4-BE49-F238E27FC236}">
                <a16:creationId xmlns:a16="http://schemas.microsoft.com/office/drawing/2014/main" id="{E43B36DE-0EE6-BEBB-AFC4-B9406E3F0D40}"/>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1011738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effectLst/>
                <a:latin typeface="Calibri" panose="020F0502020204030204" pitchFamily="34" charset="0"/>
              </a:rPr>
              <a:t>ML Framework: </a:t>
            </a:r>
            <a:r>
              <a:rPr lang="en-US" sz="1200" dirty="0" err="1">
                <a:effectLst/>
                <a:latin typeface="Calibri" panose="020F0502020204030204" pitchFamily="34" charset="0"/>
              </a:rPr>
              <a:t>SageMaker</a:t>
            </a:r>
            <a:r>
              <a:rPr lang="en-US" sz="1200" dirty="0">
                <a:effectLst/>
                <a:latin typeface="Calibri" panose="020F0502020204030204" pitchFamily="34" charset="0"/>
              </a:rPr>
              <a:t> offers the right tools to effectively build, train and run LLM and other FM models efficiently and cost effectively.  </a:t>
            </a:r>
          </a:p>
          <a:p>
            <a:r>
              <a:rPr lang="en-US" sz="1200" dirty="0" err="1">
                <a:effectLst/>
                <a:latin typeface="Calibri" panose="020F0502020204030204" pitchFamily="34" charset="0"/>
              </a:rPr>
              <a:t>SageMaker</a:t>
            </a:r>
            <a:r>
              <a:rPr lang="en-US" sz="1200" dirty="0">
                <a:effectLst/>
                <a:latin typeface="Calibri" panose="020F0502020204030204" pitchFamily="34" charset="0"/>
              </a:rPr>
              <a:t> removes heavy lifting from each step of the ML process to make it easier to developer high quality models. </a:t>
            </a:r>
          </a:p>
          <a:p>
            <a:r>
              <a:rPr lang="en-US" sz="1200" dirty="0" err="1">
                <a:effectLst/>
                <a:latin typeface="Calibri" panose="020F0502020204030204" pitchFamily="34" charset="0"/>
              </a:rPr>
              <a:t>SageMaker</a:t>
            </a:r>
            <a:r>
              <a:rPr lang="en-US" sz="1200" dirty="0">
                <a:effectLst/>
                <a:latin typeface="Calibri" panose="020F0502020204030204" pitchFamily="34" charset="0"/>
              </a:rPr>
              <a:t> provides all the components used for ML in a single toolset, so model get to production much faster with less efforts and less cost. </a:t>
            </a:r>
          </a:p>
          <a:p>
            <a:endParaRPr lang="en-US" sz="1200" dirty="0">
              <a:effectLst/>
              <a:latin typeface="Calibri" panose="020F0502020204030204" pitchFamily="34" charset="0"/>
            </a:endParaRPr>
          </a:p>
          <a:p>
            <a:pPr lvl="0"/>
            <a:r>
              <a:rPr lang="en-US" sz="1200" kern="100" dirty="0">
                <a:effectLst/>
                <a:latin typeface="Aptos" panose="020B0004020202020204" pitchFamily="34" charset="0"/>
                <a:ea typeface="Aptos" panose="020B0004020202020204" pitchFamily="34" charset="0"/>
                <a:cs typeface="Times New Roman" panose="02020603050405020304" pitchFamily="18" charset="0"/>
              </a:rPr>
              <a:t>Studio: A web based IDE for machine learning development. While it requires some coding, it offers a simplified environment. </a:t>
            </a:r>
          </a:p>
          <a:p>
            <a:pPr lvl="0"/>
            <a:r>
              <a:rPr lang="en-US" sz="1200" kern="100" dirty="0">
                <a:effectLst/>
                <a:latin typeface="Aptos" panose="020B0004020202020204" pitchFamily="34" charset="0"/>
                <a:ea typeface="Aptos" panose="020B0004020202020204" pitchFamily="34" charset="0"/>
                <a:cs typeface="Times New Roman" panose="02020603050405020304" pitchFamily="18" charset="0"/>
              </a:rPr>
              <a:t>Canvas: A visual interface for building machine learning models without writing code. </a:t>
            </a:r>
          </a:p>
          <a:p>
            <a:pPr lvl="0"/>
            <a:r>
              <a:rPr lang="en-US" sz="1200" kern="100" dirty="0">
                <a:effectLst/>
                <a:latin typeface="Aptos" panose="020B0004020202020204" pitchFamily="34" charset="0"/>
                <a:ea typeface="Aptos" panose="020B0004020202020204" pitchFamily="34" charset="0"/>
                <a:cs typeface="Times New Roman" panose="02020603050405020304" pitchFamily="18" charset="0"/>
              </a:rPr>
              <a:t>Data wrangler: Prepares and cleans data for machine learning. </a:t>
            </a:r>
          </a:p>
          <a:p>
            <a:pPr lvl="0"/>
            <a:r>
              <a:rPr lang="en-US" sz="1200" kern="100" dirty="0">
                <a:effectLst/>
                <a:latin typeface="Aptos" panose="020B0004020202020204" pitchFamily="34" charset="0"/>
                <a:ea typeface="Aptos" panose="020B0004020202020204" pitchFamily="34" charset="0"/>
                <a:cs typeface="Times New Roman" panose="02020603050405020304" pitchFamily="18" charset="0"/>
              </a:rPr>
              <a:t>Clarify: Provides tools for analyzing model predictions and detecting bias, </a:t>
            </a:r>
          </a:p>
          <a:p>
            <a:pPr lvl="0"/>
            <a:r>
              <a:rPr lang="en-US" sz="1200" kern="100" dirty="0">
                <a:effectLst/>
                <a:latin typeface="Aptos" panose="020B0004020202020204" pitchFamily="34" charset="0"/>
                <a:ea typeface="Aptos" panose="020B0004020202020204" pitchFamily="34" charset="0"/>
                <a:cs typeface="Times New Roman" panose="02020603050405020304" pitchFamily="18" charset="0"/>
              </a:rPr>
              <a:t>Debugger: Provides tools for debugging and profiling ML models. </a:t>
            </a:r>
          </a:p>
          <a:p>
            <a:pPr lvl="0"/>
            <a:r>
              <a:rPr lang="en-US" sz="1200" kern="100" dirty="0">
                <a:effectLst/>
                <a:latin typeface="Aptos" panose="020B0004020202020204" pitchFamily="34" charset="0"/>
                <a:ea typeface="Aptos" panose="020B0004020202020204" pitchFamily="34" charset="0"/>
                <a:cs typeface="Times New Roman" panose="02020603050405020304" pitchFamily="18" charset="0"/>
              </a:rPr>
              <a:t>Autopilot: Automatically trains and tunes machine learning models. </a:t>
            </a:r>
          </a:p>
          <a:p>
            <a:pPr lvl="0"/>
            <a:r>
              <a:rPr lang="en-US" sz="1200" kern="100" dirty="0">
                <a:effectLst/>
                <a:latin typeface="Aptos" panose="020B0004020202020204" pitchFamily="34" charset="0"/>
                <a:ea typeface="Aptos" panose="020B0004020202020204" pitchFamily="34" charset="0"/>
                <a:cs typeface="Times New Roman" panose="02020603050405020304" pitchFamily="18" charset="0"/>
              </a:rPr>
              <a:t>Pipelines: Service for building and automating ML pipelines</a:t>
            </a:r>
          </a:p>
          <a:p>
            <a:pPr lvl="0"/>
            <a:r>
              <a:rPr lang="en-US" sz="1200" kern="100" dirty="0">
                <a:effectLst/>
                <a:latin typeface="Aptos" panose="020B0004020202020204" pitchFamily="34" charset="0"/>
                <a:ea typeface="Aptos" panose="020B0004020202020204" pitchFamily="34" charset="0"/>
                <a:cs typeface="Times New Roman" panose="02020603050405020304" pitchFamily="18" charset="0"/>
              </a:rPr>
              <a:t>Feature Store: Fully managed, purpose built repository to store, update, retrieve and share ML features. </a:t>
            </a:r>
          </a:p>
          <a:p>
            <a:pPr lvl="0"/>
            <a:r>
              <a:rPr lang="en-US" sz="1200" kern="100" dirty="0">
                <a:effectLst/>
                <a:latin typeface="Aptos" panose="020B0004020202020204" pitchFamily="34" charset="0"/>
                <a:ea typeface="Aptos" panose="020B0004020202020204" pitchFamily="34" charset="0"/>
                <a:cs typeface="Times New Roman" panose="02020603050405020304" pitchFamily="18" charset="0"/>
              </a:rPr>
              <a:t>Ground truth: Builds high quality training data sets for improved model accuracy. </a:t>
            </a:r>
          </a:p>
          <a:p>
            <a:pPr lvl="0"/>
            <a:r>
              <a:rPr lang="en-US" sz="1200" kern="100" dirty="0">
                <a:effectLst/>
                <a:latin typeface="Aptos" panose="020B0004020202020204" pitchFamily="34" charset="0"/>
                <a:ea typeface="Aptos" panose="020B0004020202020204" pitchFamily="34" charset="0"/>
                <a:cs typeface="Times New Roman" panose="02020603050405020304" pitchFamily="18" charset="0"/>
              </a:rPr>
              <a:t>Monitor: Monitor the performance of ML models in production. </a:t>
            </a:r>
          </a:p>
          <a:p>
            <a:pPr lvl="0">
              <a:spcAft>
                <a:spcPts val="800"/>
              </a:spcAft>
            </a:pPr>
            <a:r>
              <a:rPr lang="en-US" sz="1200" kern="100" dirty="0" err="1">
                <a:effectLst/>
                <a:latin typeface="Aptos" panose="020B0004020202020204" pitchFamily="34" charset="0"/>
                <a:ea typeface="Aptos" panose="020B0004020202020204" pitchFamily="34" charset="0"/>
                <a:cs typeface="Times New Roman" panose="02020603050405020304" pitchFamily="18" charset="0"/>
              </a:rPr>
              <a:t>EdnPoint</a:t>
            </a:r>
            <a:r>
              <a:rPr lang="en-US" sz="1200" kern="100" dirty="0">
                <a:effectLst/>
                <a:latin typeface="Aptos" panose="020B0004020202020204" pitchFamily="34" charset="0"/>
                <a:ea typeface="Aptos" panose="020B0004020202020204" pitchFamily="34" charset="0"/>
                <a:cs typeface="Times New Roman" panose="02020603050405020304" pitchFamily="18" charset="0"/>
              </a:rPr>
              <a:t>: Hosts machine learning models for real time inference. </a:t>
            </a:r>
          </a:p>
          <a:p>
            <a:endParaRPr lang="en-US" sz="1200" dirty="0">
              <a:effectLst/>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17</a:t>
            </a:fld>
            <a:endParaRPr lang="en-US"/>
          </a:p>
        </p:txBody>
      </p:sp>
      <p:sp>
        <p:nvSpPr>
          <p:cNvPr id="5" name="Footer Placeholder 4">
            <a:extLst>
              <a:ext uri="{FF2B5EF4-FFF2-40B4-BE49-F238E27FC236}">
                <a16:creationId xmlns:a16="http://schemas.microsoft.com/office/drawing/2014/main" id="{13B33BCB-EE1D-0DFA-497E-BEE623AA280E}"/>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1888464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rPr>
              <a:t>AI/ML Services: AWS Provides a robust AI/ML services layer, offering ready to use solutions. This layer includes a wide range of services that provide developers with AI/ML capabilities without requiring extensive infrastructure management or specialized expertise. </a:t>
            </a:r>
          </a:p>
          <a:p>
            <a:endParaRPr lang="en-US" sz="1800" dirty="0">
              <a:effectLst/>
              <a:latin typeface="Calibri" panose="020F0502020204030204" pitchFamily="34" charset="0"/>
            </a:endParaRPr>
          </a:p>
          <a:p>
            <a:pPr rtl="0" fontAlgn="ctr">
              <a:buFont typeface="+mj-lt"/>
              <a:buAutoNum type="arabicPeriod"/>
            </a:pPr>
            <a:r>
              <a:rPr lang="en-US" sz="1100" b="0" i="0" dirty="0">
                <a:effectLst/>
                <a:latin typeface="Calibri" panose="020F0502020204030204" pitchFamily="34" charset="0"/>
              </a:rPr>
              <a:t>Amazon Comprehend:</a:t>
            </a:r>
          </a:p>
          <a:p>
            <a:pPr marL="742950" lvl="1" indent="-285750" rtl="0" fontAlgn="ctr">
              <a:buFont typeface="+mj-lt"/>
              <a:buAutoNum type="romanLcPeriod"/>
            </a:pPr>
            <a:r>
              <a:rPr lang="en-US" sz="1100" b="0" i="0" dirty="0">
                <a:effectLst/>
                <a:latin typeface="Calibri" panose="020F0502020204030204" pitchFamily="34" charset="0"/>
              </a:rPr>
              <a:t>This uses ML and Natural language process(NLP) to help uncover insights and relationships in the unstructured data. </a:t>
            </a:r>
          </a:p>
          <a:p>
            <a:pPr marL="742950" lvl="1" indent="-285750" rtl="0" fontAlgn="ctr">
              <a:buFont typeface="+mj-lt"/>
              <a:buAutoNum type="romanLcPeriod"/>
            </a:pPr>
            <a:r>
              <a:rPr lang="en-US" sz="1100" b="0" i="0" dirty="0">
                <a:effectLst/>
                <a:latin typeface="Calibri" panose="020F0502020204030204" pitchFamily="34" charset="0"/>
              </a:rPr>
              <a:t>It identifies the language of the text and extras key phrases, places, people, brand or events. </a:t>
            </a:r>
          </a:p>
          <a:p>
            <a:pPr marL="742950" lvl="1" indent="-285750" rtl="0" fontAlgn="ctr">
              <a:buFont typeface="+mj-lt"/>
              <a:buAutoNum type="romanLcPeriod"/>
            </a:pPr>
            <a:r>
              <a:rPr lang="en-US" sz="1100" b="0" i="0" dirty="0">
                <a:effectLst/>
                <a:latin typeface="Calibri" panose="020F0502020204030204" pitchFamily="34" charset="0"/>
              </a:rPr>
              <a:t>Also understand sensitivity of the text. </a:t>
            </a:r>
          </a:p>
          <a:p>
            <a:pPr marL="742950" lvl="1" indent="-285750" rtl="0" fontAlgn="ctr">
              <a:buFont typeface="+mj-lt"/>
              <a:buAutoNum type="romanLcPeriod"/>
            </a:pPr>
            <a:r>
              <a:rPr lang="en-US" sz="1100" b="0" i="0" dirty="0">
                <a:effectLst/>
                <a:latin typeface="Calibri" panose="020F0502020204030204" pitchFamily="34" charset="0"/>
              </a:rPr>
              <a:t>Best example use cases are : 1. Analyzing customer emails. 2. Categorize the emails by the topic.  3. </a:t>
            </a:r>
          </a:p>
          <a:p>
            <a:pPr rtl="0" fontAlgn="ctr">
              <a:buFont typeface="+mj-lt"/>
              <a:buAutoNum type="arabicPeriod"/>
            </a:pPr>
            <a:r>
              <a:rPr lang="en-US" sz="1100" b="0" i="0" dirty="0">
                <a:effectLst/>
                <a:latin typeface="Calibri" panose="020F0502020204030204" pitchFamily="34" charset="0"/>
              </a:rPr>
              <a:t>Amazon translate:</a:t>
            </a:r>
          </a:p>
          <a:p>
            <a:pPr marL="742950" lvl="1" indent="-285750" rtl="0" fontAlgn="ctr">
              <a:buFont typeface="+mj-lt"/>
              <a:buAutoNum type="romanLcPeriod"/>
            </a:pPr>
            <a:r>
              <a:rPr lang="en-US" sz="1100" b="0" i="0" dirty="0">
                <a:effectLst/>
                <a:latin typeface="Calibri" panose="020F0502020204030204" pitchFamily="34" charset="0"/>
              </a:rPr>
              <a:t>Language translator. It helps to localize content. </a:t>
            </a:r>
          </a:p>
          <a:p>
            <a:pPr marL="1143000" lvl="2" indent="-228600" rtl="0" fontAlgn="ctr">
              <a:buFont typeface="+mj-lt"/>
              <a:buAutoNum type="arabicPeriod"/>
            </a:pPr>
            <a:r>
              <a:rPr lang="en-US" sz="1100" b="0" i="0" dirty="0">
                <a:effectLst/>
                <a:latin typeface="Calibri" panose="020F0502020204030204" pitchFamily="34" charset="0"/>
              </a:rPr>
              <a:t>Best use case: internalization of your web sites. </a:t>
            </a:r>
          </a:p>
          <a:p>
            <a:pPr rtl="0" fontAlgn="ctr">
              <a:buFont typeface="+mj-lt"/>
              <a:buAutoNum type="arabicPeriod"/>
            </a:pPr>
            <a:r>
              <a:rPr lang="en-US" sz="1100" b="0" i="0" dirty="0">
                <a:effectLst/>
                <a:latin typeface="Calibri" panose="020F0502020204030204" pitchFamily="34" charset="0"/>
              </a:rPr>
              <a:t>Amazon Transcribe:</a:t>
            </a:r>
          </a:p>
          <a:p>
            <a:pPr marL="742950" lvl="1" indent="-285750" rtl="0" fontAlgn="ctr">
              <a:buFont typeface="+mj-lt"/>
              <a:buAutoNum type="romanLcPeriod"/>
            </a:pPr>
            <a:r>
              <a:rPr lang="en-US" sz="1100" b="0" i="0" dirty="0">
                <a:effectLst/>
                <a:latin typeface="Calibri" panose="020F0502020204030204" pitchFamily="34" charset="0"/>
              </a:rPr>
              <a:t>Is a speech recognition service converts speech to a text. </a:t>
            </a:r>
          </a:p>
          <a:p>
            <a:pPr marL="1143000" lvl="2" indent="-228600" rtl="0" fontAlgn="ctr">
              <a:buFont typeface="+mj-lt"/>
              <a:buAutoNum type="arabicPeriod"/>
            </a:pPr>
            <a:r>
              <a:rPr lang="en-US" sz="1100" b="0" i="0" dirty="0">
                <a:effectLst/>
                <a:latin typeface="Calibri" panose="020F0502020204030204" pitchFamily="34" charset="0"/>
              </a:rPr>
              <a:t>Examples: Subtitles for a movie, transcribing customer calls… </a:t>
            </a:r>
          </a:p>
          <a:p>
            <a:pPr rtl="0" fontAlgn="ctr">
              <a:buFont typeface="+mj-lt"/>
              <a:buAutoNum type="arabicPeriod"/>
            </a:pPr>
            <a:r>
              <a:rPr lang="en-US" sz="1100" b="0" i="0" dirty="0">
                <a:effectLst/>
                <a:latin typeface="Calibri" panose="020F0502020204030204" pitchFamily="34" charset="0"/>
              </a:rPr>
              <a:t>Amazon Polly:</a:t>
            </a:r>
          </a:p>
          <a:p>
            <a:pPr marL="742950" lvl="1" indent="-285750" rtl="0" fontAlgn="ctr">
              <a:buFont typeface="+mj-lt"/>
              <a:buAutoNum type="romanLcPeriod"/>
            </a:pPr>
            <a:r>
              <a:rPr lang="en-US" sz="1100" b="0" i="0" dirty="0">
                <a:effectLst/>
                <a:latin typeface="Calibri" panose="020F0502020204030204" pitchFamily="34" charset="0"/>
              </a:rPr>
              <a:t>Is service that converts text into speech. </a:t>
            </a:r>
          </a:p>
          <a:p>
            <a:pPr marL="1143000" lvl="2" indent="-228600" rtl="0" fontAlgn="ctr">
              <a:buFont typeface="+mj-lt"/>
              <a:buAutoNum type="arabicPeriod"/>
            </a:pPr>
            <a:r>
              <a:rPr lang="en-US" sz="1100" b="0" i="0" dirty="0" err="1">
                <a:effectLst/>
                <a:latin typeface="Calibri" panose="020F0502020204030204" pitchFamily="34" charset="0"/>
              </a:rPr>
              <a:t>Usecases</a:t>
            </a:r>
            <a:r>
              <a:rPr lang="en-US" sz="1100" b="0" i="0" dirty="0">
                <a:effectLst/>
                <a:latin typeface="Calibri" panose="020F0502020204030204" pitchFamily="34" charset="0"/>
              </a:rPr>
              <a:t>: Public speech </a:t>
            </a:r>
            <a:r>
              <a:rPr lang="en-US" sz="1100" b="0" i="0" dirty="0" err="1">
                <a:effectLst/>
                <a:latin typeface="Calibri" panose="020F0502020204030204" pitchFamily="34" charset="0"/>
              </a:rPr>
              <a:t>annoucements</a:t>
            </a:r>
            <a:r>
              <a:rPr lang="en-US" sz="1100" b="0" i="0" dirty="0">
                <a:effectLst/>
                <a:latin typeface="Calibri" panose="020F0502020204030204" pitchFamily="34" charset="0"/>
              </a:rPr>
              <a:t>..</a:t>
            </a:r>
          </a:p>
          <a:p>
            <a:pPr rtl="0" fontAlgn="ctr">
              <a:buFont typeface="+mj-lt"/>
              <a:buAutoNum type="arabicPeriod"/>
            </a:pPr>
            <a:r>
              <a:rPr lang="en-US" sz="1100" b="0" i="0" dirty="0">
                <a:effectLst/>
                <a:latin typeface="Calibri" panose="020F0502020204030204" pitchFamily="34" charset="0"/>
              </a:rPr>
              <a:t>Amazon </a:t>
            </a:r>
            <a:r>
              <a:rPr lang="en-US" sz="1100" b="0" i="0" dirty="0" err="1">
                <a:effectLst/>
                <a:latin typeface="Calibri" panose="020F0502020204030204" pitchFamily="34" charset="0"/>
              </a:rPr>
              <a:t>Rekognition</a:t>
            </a:r>
            <a:r>
              <a:rPr lang="en-US" sz="1100" b="0" i="0" dirty="0">
                <a:effectLst/>
                <a:latin typeface="Calibri" panose="020F0502020204030204" pitchFamily="34" charset="0"/>
              </a:rPr>
              <a:t>: </a:t>
            </a:r>
          </a:p>
          <a:p>
            <a:pPr marL="742950" lvl="1" indent="-285750" rtl="0" fontAlgn="ctr">
              <a:buFont typeface="+mj-lt"/>
              <a:buAutoNum type="romanLcPeriod"/>
            </a:pPr>
            <a:r>
              <a:rPr lang="en-US" sz="1100" b="0" i="0" dirty="0">
                <a:effectLst/>
                <a:latin typeface="Calibri" panose="020F0502020204030204" pitchFamily="34" charset="0"/>
              </a:rPr>
              <a:t>This used to identify objects, people, places, text, scenes and activities in the images and videos. </a:t>
            </a:r>
          </a:p>
          <a:p>
            <a:pPr marL="1143000" lvl="2" indent="-228600" rtl="0" fontAlgn="ctr">
              <a:buFont typeface="+mj-lt"/>
              <a:buAutoNum type="arabicPeriod"/>
            </a:pPr>
            <a:r>
              <a:rPr lang="en-US" sz="1100" b="0" i="0" dirty="0">
                <a:effectLst/>
                <a:latin typeface="Calibri" panose="020F0502020204030204" pitchFamily="34" charset="0"/>
              </a:rPr>
              <a:t>Use cases: Facial analysis, facial search capabilities, counting people in auditorium, cricket match 3rd empire review :)</a:t>
            </a:r>
          </a:p>
          <a:p>
            <a:pPr rtl="0" fontAlgn="ctr">
              <a:buFont typeface="+mj-lt"/>
              <a:buAutoNum type="arabicPeriod"/>
            </a:pPr>
            <a:r>
              <a:rPr lang="en-US" sz="1100" b="0" i="0" dirty="0">
                <a:effectLst/>
                <a:latin typeface="Calibri" panose="020F0502020204030204" pitchFamily="34" charset="0"/>
              </a:rPr>
              <a:t>Amazon Lex:</a:t>
            </a:r>
          </a:p>
          <a:p>
            <a:pPr marL="742950" lvl="1" indent="-285750" rtl="0" fontAlgn="ctr">
              <a:buFont typeface="+mj-lt"/>
              <a:buAutoNum type="romanLcPeriod"/>
            </a:pPr>
            <a:r>
              <a:rPr lang="en-US" sz="1100" b="0" i="0" dirty="0">
                <a:effectLst/>
                <a:latin typeface="Calibri" panose="020F0502020204030204" pitchFamily="34" charset="0"/>
              </a:rPr>
              <a:t>Used to design, build , test and deploy </a:t>
            </a:r>
            <a:r>
              <a:rPr lang="en-US" sz="1100" b="0" i="0" dirty="0" err="1">
                <a:effectLst/>
                <a:latin typeface="Calibri" panose="020F0502020204030204" pitchFamily="34" charset="0"/>
              </a:rPr>
              <a:t>ChatBot</a:t>
            </a:r>
            <a:r>
              <a:rPr lang="en-US" sz="1100" b="0" i="0" dirty="0">
                <a:effectLst/>
                <a:latin typeface="Calibri" panose="020F0502020204030204" pitchFamily="34" charset="0"/>
              </a:rPr>
              <a:t> application using text or voice. </a:t>
            </a:r>
          </a:p>
          <a:p>
            <a:pPr marL="1143000" lvl="2" indent="-228600" rtl="0" fontAlgn="ctr">
              <a:buFont typeface="+mj-lt"/>
              <a:buAutoNum type="arabicPeriod"/>
            </a:pPr>
            <a:r>
              <a:rPr lang="en-US" sz="1100" b="0" i="0" dirty="0">
                <a:effectLst/>
                <a:latin typeface="Calibri" panose="020F0502020204030204" pitchFamily="34" charset="0"/>
              </a:rPr>
              <a:t>Use cases: Ordering pizza chat bot, customer service chat bot, hotel reservation chatbot… </a:t>
            </a:r>
          </a:p>
          <a:p>
            <a:pPr rtl="0" fontAlgn="ctr">
              <a:buFont typeface="+mj-lt"/>
              <a:buAutoNum type="arabicPeriod"/>
            </a:pPr>
            <a:r>
              <a:rPr lang="en-US" sz="1100" b="0" i="0" dirty="0">
                <a:effectLst/>
                <a:latin typeface="Calibri" panose="020F0502020204030204" pitchFamily="34" charset="0"/>
              </a:rPr>
              <a:t>Amazon Personalize:</a:t>
            </a:r>
          </a:p>
          <a:p>
            <a:pPr marL="742950" lvl="1" indent="-285750" rtl="0" fontAlgn="ctr">
              <a:buFont typeface="+mj-lt"/>
              <a:buAutoNum type="romanLcPeriod"/>
            </a:pPr>
            <a:r>
              <a:rPr lang="en-US" sz="1100" b="0" i="0" dirty="0">
                <a:effectLst/>
                <a:latin typeface="Calibri" panose="020F0502020204030204" pitchFamily="34" charset="0"/>
              </a:rPr>
              <a:t>Used to provide individuals recommendations to the customers. </a:t>
            </a:r>
          </a:p>
          <a:p>
            <a:pPr marL="1143000" lvl="2" indent="-228600" rtl="0" fontAlgn="ctr">
              <a:buFont typeface="+mj-lt"/>
              <a:buAutoNum type="arabicPeriod"/>
            </a:pPr>
            <a:r>
              <a:rPr lang="en-US" sz="1100" b="0" i="0" dirty="0">
                <a:effectLst/>
                <a:latin typeface="Calibri" panose="020F0502020204030204" pitchFamily="34" charset="0"/>
              </a:rPr>
              <a:t>Use cases: Retail stores, movie suggestions, medicine…</a:t>
            </a:r>
          </a:p>
          <a:p>
            <a:pPr rtl="0" fontAlgn="ctr">
              <a:buFont typeface="+mj-lt"/>
              <a:buAutoNum type="arabicPeriod"/>
            </a:pPr>
            <a:r>
              <a:rPr lang="en-US" sz="1100" b="0" i="0" dirty="0">
                <a:effectLst/>
                <a:latin typeface="Calibri" panose="020F0502020204030204" pitchFamily="34" charset="0"/>
              </a:rPr>
              <a:t>Amazon </a:t>
            </a:r>
            <a:r>
              <a:rPr lang="en-US" sz="1100" b="0" i="0" dirty="0" err="1">
                <a:effectLst/>
                <a:latin typeface="Calibri" panose="020F0502020204030204" pitchFamily="34" charset="0"/>
              </a:rPr>
              <a:t>Textract</a:t>
            </a:r>
            <a:r>
              <a:rPr lang="en-US" sz="1100" b="0" i="0" dirty="0">
                <a:effectLst/>
                <a:latin typeface="Calibri" panose="020F0502020204030204" pitchFamily="34" charset="0"/>
              </a:rPr>
              <a:t>:</a:t>
            </a:r>
          </a:p>
          <a:p>
            <a:pPr marL="742950" lvl="1" indent="-285750" rtl="0" fontAlgn="ctr">
              <a:buFont typeface="+mj-lt"/>
              <a:buAutoNum type="romanLcPeriod"/>
            </a:pPr>
            <a:r>
              <a:rPr lang="en-US" sz="1100" b="0" i="0" dirty="0">
                <a:effectLst/>
                <a:latin typeface="Calibri" panose="020F0502020204030204" pitchFamily="34" charset="0"/>
              </a:rPr>
              <a:t>Its automatically extracts text data from scanned documents. </a:t>
            </a:r>
          </a:p>
          <a:p>
            <a:pPr marL="1143000" lvl="2" indent="-228600" rtl="0" fontAlgn="ctr">
              <a:buFont typeface="+mj-lt"/>
              <a:buAutoNum type="arabicPeriod"/>
            </a:pPr>
            <a:r>
              <a:rPr lang="en-US" sz="1100" b="0" i="0" dirty="0">
                <a:effectLst/>
                <a:latin typeface="Calibri" panose="020F0502020204030204" pitchFamily="34" charset="0"/>
              </a:rPr>
              <a:t>Use case: Medical claim, financial report, tax forms, passport processing… </a:t>
            </a:r>
          </a:p>
          <a:p>
            <a:pPr rtl="0" fontAlgn="ctr">
              <a:buFont typeface="+mj-lt"/>
              <a:buAutoNum type="arabicPeriod"/>
            </a:pPr>
            <a:r>
              <a:rPr lang="en-US" sz="1100" b="0" i="0" dirty="0">
                <a:effectLst/>
                <a:latin typeface="Calibri" panose="020F0502020204030204" pitchFamily="34" charset="0"/>
              </a:rPr>
              <a:t>Amazon Kendra:</a:t>
            </a:r>
          </a:p>
          <a:p>
            <a:pPr marL="742950" lvl="1" indent="-285750" rtl="0" fontAlgn="ctr">
              <a:buFont typeface="+mj-lt"/>
              <a:buAutoNum type="romanLcPeriod"/>
            </a:pPr>
            <a:r>
              <a:rPr lang="en-US" sz="1100" b="0" i="0" dirty="0">
                <a:effectLst/>
                <a:latin typeface="Calibri" panose="020F0502020204030204" pitchFamily="34" charset="0"/>
              </a:rPr>
              <a:t>Is an intelligent document search service. </a:t>
            </a:r>
          </a:p>
          <a:p>
            <a:pPr marL="1143000" lvl="2" indent="-228600" rtl="0" fontAlgn="ctr">
              <a:buFont typeface="+mj-lt"/>
              <a:buAutoNum type="arabicPeriod"/>
            </a:pPr>
            <a:r>
              <a:rPr lang="en-US" sz="1100" b="0" i="0" dirty="0">
                <a:effectLst/>
                <a:latin typeface="Calibri" panose="020F0502020204030204" pitchFamily="34" charset="0"/>
              </a:rPr>
              <a:t>Use cases: KT Documentation search with in the organization. </a:t>
            </a:r>
          </a:p>
          <a:p>
            <a:pPr rtl="0" fontAlgn="ctr">
              <a:buFont typeface="+mj-lt"/>
              <a:buAutoNum type="arabicPeriod"/>
            </a:pPr>
            <a:r>
              <a:rPr lang="en-US" sz="1100" b="0" i="0" dirty="0">
                <a:effectLst/>
                <a:latin typeface="Calibri" panose="020F0502020204030204" pitchFamily="34" charset="0"/>
              </a:rPr>
              <a:t>Amazon </a:t>
            </a:r>
            <a:r>
              <a:rPr lang="en-US" sz="1100" b="0" i="0" dirty="0" err="1">
                <a:effectLst/>
                <a:latin typeface="Calibri" panose="020F0502020204030204" pitchFamily="34" charset="0"/>
              </a:rPr>
              <a:t>DeepRacer</a:t>
            </a:r>
            <a:r>
              <a:rPr lang="en-US" sz="1100" b="0" i="0" dirty="0">
                <a:effectLst/>
                <a:latin typeface="Calibri" panose="020F0502020204030204" pitchFamily="34" charset="0"/>
              </a:rPr>
              <a:t>:</a:t>
            </a:r>
          </a:p>
          <a:p>
            <a:pPr marL="742950" lvl="1" indent="-285750" rtl="0" fontAlgn="ctr">
              <a:buFont typeface="+mj-lt"/>
              <a:buAutoNum type="romanLcPeriod"/>
            </a:pPr>
            <a:r>
              <a:rPr lang="en-US" sz="1100" b="0" i="0" dirty="0">
                <a:effectLst/>
                <a:latin typeface="Calibri" panose="020F0502020204030204" pitchFamily="34" charset="0"/>
              </a:rPr>
              <a:t>Is a fun way of getting started with Reinforcement learning. </a:t>
            </a:r>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18</a:t>
            </a:fld>
            <a:endParaRPr lang="en-US"/>
          </a:p>
        </p:txBody>
      </p:sp>
      <p:sp>
        <p:nvSpPr>
          <p:cNvPr id="5" name="Footer Placeholder 4">
            <a:extLst>
              <a:ext uri="{FF2B5EF4-FFF2-40B4-BE49-F238E27FC236}">
                <a16:creationId xmlns:a16="http://schemas.microsoft.com/office/drawing/2014/main" id="{E4F2CEAC-A9E4-2F40-5E05-0FD4E26B1EDD}"/>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3613340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buFont typeface="+mj-lt"/>
              <a:buAutoNum type="arabicPeriod"/>
            </a:pPr>
            <a:r>
              <a:rPr lang="en-US" sz="1100" b="0" i="0" dirty="0">
                <a:effectLst/>
                <a:latin typeface="Calibri" panose="020F0502020204030204" pitchFamily="34" charset="0"/>
              </a:rPr>
              <a:t>Generative AI layer offers a suite of powerful tools and services specially designed for generative AI tasks. </a:t>
            </a:r>
          </a:p>
          <a:p>
            <a:pPr marL="742950" lvl="1" indent="-285750" rtl="0" fontAlgn="ctr">
              <a:buFont typeface="+mj-lt"/>
              <a:buAutoNum type="romanLcPeriod"/>
            </a:pPr>
            <a:r>
              <a:rPr lang="en-US" sz="1100" b="0" i="0" dirty="0">
                <a:effectLst/>
                <a:latin typeface="Calibri" panose="020F0502020204030204" pitchFamily="34" charset="0"/>
              </a:rPr>
              <a:t>Sage Maker Jump Start: Is helps to quickly get started with ML. Sage Maker provides solutions for most common use cases which can be rapidly developed and deployed. Is on stop place where we can develop, deploy and fine tune FM models.</a:t>
            </a:r>
          </a:p>
          <a:p>
            <a:pPr marL="742950" lvl="1" indent="-285750" rtl="0" fontAlgn="ctr">
              <a:buFont typeface="+mj-lt"/>
              <a:buAutoNum type="romanLcPeriod"/>
            </a:pPr>
            <a:r>
              <a:rPr lang="en-US" sz="1100" b="0" i="0" dirty="0">
                <a:effectLst/>
                <a:latin typeface="Calibri" panose="020F0502020204030204" pitchFamily="34" charset="0"/>
              </a:rPr>
              <a:t>Amazon Bedrock: Amazon Bedrock is a fully managed service that makes FMs(Foundation models) from Amazon and leading AI startups available through an API. With the Amazon Bedrock serverless experience, you can quickly get started, experiment with FMs, privately customize them with your own data, and seamlessly integrate and deploy FMs into your AWS applications.</a:t>
            </a:r>
          </a:p>
          <a:p>
            <a:pPr marL="742950" lvl="1" indent="-285750" rtl="0" fontAlgn="ctr">
              <a:buFont typeface="+mj-lt"/>
              <a:buAutoNum type="romanLcPeriod"/>
            </a:pPr>
            <a:r>
              <a:rPr lang="en-US" sz="1100" b="0" i="0" dirty="0">
                <a:effectLst/>
                <a:latin typeface="Calibri" panose="020F0502020204030204" pitchFamily="34" charset="0"/>
              </a:rPr>
              <a:t>Amazon Q: Can you helps to get fast, relevant to process questions, solve problems, generate content and take actions using the data provided by the company repositories. Its like a </a:t>
            </a:r>
            <a:r>
              <a:rPr lang="en-US" sz="1100" b="0" i="0" dirty="0" err="1">
                <a:effectLst/>
                <a:latin typeface="Calibri" panose="020F0502020204030204" pitchFamily="34" charset="0"/>
              </a:rPr>
              <a:t>GenAI</a:t>
            </a:r>
            <a:r>
              <a:rPr lang="en-US" sz="1100" b="0" i="0" dirty="0">
                <a:effectLst/>
                <a:latin typeface="Calibri" panose="020F0502020204030204" pitchFamily="34" charset="0"/>
              </a:rPr>
              <a:t> Support tool for internal employees. </a:t>
            </a:r>
          </a:p>
          <a:p>
            <a:pPr marL="1143000" lvl="2" indent="-228600" rtl="0" fontAlgn="ctr">
              <a:buFont typeface="+mj-lt"/>
              <a:buAutoNum type="arabicPeriod"/>
            </a:pPr>
            <a:r>
              <a:rPr lang="en-US" sz="1100" b="0" i="0" dirty="0">
                <a:effectLst/>
                <a:latin typeface="Calibri" panose="020F0502020204030204" pitchFamily="34" charset="0"/>
              </a:rPr>
              <a:t>Use cases: Create job post for your company, post in social media about your company new product. </a:t>
            </a:r>
          </a:p>
          <a:p>
            <a:pPr marL="742950" lvl="1" indent="-285750" rtl="0" fontAlgn="ctr">
              <a:buFont typeface="+mj-lt"/>
              <a:buAutoNum type="romanLcPeriod"/>
            </a:pPr>
            <a:r>
              <a:rPr lang="en-US" sz="1100" b="0" i="0" dirty="0">
                <a:effectLst/>
                <a:latin typeface="Calibri" panose="020F0502020204030204" pitchFamily="34" charset="0"/>
              </a:rPr>
              <a:t>Amazon Q Developer: Its a ML powered code recommendations to accelerate development in Java, python, C#, typescript applications. The service integrate with multiple integrated development environments and helps developers to write code faster. It also helps to answer questions about </a:t>
            </a:r>
            <a:r>
              <a:rPr lang="en-US" sz="1100" b="0" i="0" dirty="0" err="1">
                <a:effectLst/>
                <a:latin typeface="Calibri" panose="020F0502020204030204" pitchFamily="34" charset="0"/>
              </a:rPr>
              <a:t>aws</a:t>
            </a:r>
            <a:r>
              <a:rPr lang="en-US" sz="1100" b="0" i="0" dirty="0">
                <a:effectLst/>
                <a:latin typeface="Calibri" panose="020F0502020204030204" pitchFamily="34" charset="0"/>
              </a:rPr>
              <a:t> services. </a:t>
            </a:r>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19</a:t>
            </a:fld>
            <a:endParaRPr lang="en-US"/>
          </a:p>
        </p:txBody>
      </p:sp>
      <p:sp>
        <p:nvSpPr>
          <p:cNvPr id="5" name="Footer Placeholder 4">
            <a:extLst>
              <a:ext uri="{FF2B5EF4-FFF2-40B4-BE49-F238E27FC236}">
                <a16:creationId xmlns:a16="http://schemas.microsoft.com/office/drawing/2014/main" id="{48BD0556-81F3-38D5-EF7F-8B8DEF7625AB}"/>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645229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buFont typeface="+mj-lt"/>
              <a:buAutoNum type="arabicPeriod"/>
            </a:pPr>
            <a:r>
              <a:rPr lang="en-US" sz="1100" b="0" i="0" dirty="0">
                <a:effectLst/>
                <a:latin typeface="Calibri" panose="020F0502020204030204" pitchFamily="34" charset="0"/>
              </a:rPr>
              <a:t>AWS offers top-notch security and privacy features to keep your data safe and it gives you access to the most advanced AI models available. AWS helps you take advantage of generative AI technology and create something truly unique and personalized.</a:t>
            </a:r>
          </a:p>
          <a:p>
            <a:pPr marL="742950" lvl="1" indent="-285750" rtl="0" fontAlgn="ctr">
              <a:buFont typeface="+mj-lt"/>
              <a:buAutoNum type="romanLcPeriod"/>
            </a:pPr>
            <a:r>
              <a:rPr lang="en-US" sz="1100" b="0" i="0" dirty="0">
                <a:effectLst/>
                <a:latin typeface="Calibri" panose="020F0502020204030204" pitchFamily="34" charset="0"/>
              </a:rPr>
              <a:t>Accelerate development and deployment: </a:t>
            </a:r>
          </a:p>
          <a:p>
            <a:pPr marL="1143000" lvl="2" indent="-228600" rtl="0" fontAlgn="ctr">
              <a:buFont typeface="+mj-lt"/>
              <a:buAutoNum type="arabicPeriod"/>
            </a:pPr>
            <a:r>
              <a:rPr lang="en-US" sz="1100" b="0" i="0" dirty="0">
                <a:effectLst/>
                <a:latin typeface="Calibri" panose="020F0502020204030204" pitchFamily="34" charset="0"/>
              </a:rPr>
              <a:t>Using amazon Q Developer, we can generate code in real time. </a:t>
            </a:r>
          </a:p>
          <a:p>
            <a:pPr marL="1143000" lvl="2" indent="-228600" rtl="0" fontAlgn="ctr">
              <a:buFont typeface="+mj-lt"/>
              <a:buAutoNum type="arabicPeriod"/>
            </a:pPr>
            <a:r>
              <a:rPr lang="en-US" sz="1100" b="0" i="0" dirty="0">
                <a:effectLst/>
                <a:latin typeface="Calibri" panose="020F0502020204030204" pitchFamily="34" charset="0"/>
              </a:rPr>
              <a:t>Sage Maker handles tasks such as data preprocessing, model training and deployment. So that developers can focus on application logic and user experience. </a:t>
            </a:r>
          </a:p>
          <a:p>
            <a:pPr marL="1143000" lvl="2" indent="-228600" rtl="0" fontAlgn="ctr">
              <a:buFont typeface="+mj-lt"/>
              <a:buAutoNum type="arabicPeriod"/>
            </a:pPr>
            <a:r>
              <a:rPr lang="en-US" sz="1100" b="0" i="0" dirty="0">
                <a:effectLst/>
                <a:latin typeface="Calibri" panose="020F0502020204030204" pitchFamily="34" charset="0"/>
              </a:rPr>
              <a:t>Amazon bed rocks access pre-trained models and API's. So developers can quickly integrate AI capabilities into their application with out extensive trainings or specialized infrastructure. </a:t>
            </a:r>
          </a:p>
          <a:p>
            <a:pPr marL="742950" lvl="1" indent="-285750" rtl="0" fontAlgn="ctr">
              <a:buFont typeface="+mj-lt"/>
              <a:buAutoNum type="romanLcPeriod"/>
            </a:pPr>
            <a:r>
              <a:rPr lang="en-US" sz="1100" b="0" i="0" dirty="0">
                <a:effectLst/>
                <a:latin typeface="Calibri" panose="020F0502020204030204" pitchFamily="34" charset="0"/>
              </a:rPr>
              <a:t>Scalability and cost optimization:</a:t>
            </a:r>
          </a:p>
          <a:p>
            <a:pPr marL="1143000" lvl="2" indent="-228600" rtl="0" fontAlgn="ctr">
              <a:buFont typeface="+mj-lt"/>
              <a:buAutoNum type="arabicPeriod"/>
            </a:pPr>
            <a:r>
              <a:rPr lang="en-US" sz="1100" b="0" i="0" dirty="0">
                <a:effectLst/>
                <a:latin typeface="Calibri" panose="020F0502020204030204" pitchFamily="34" charset="0"/>
              </a:rPr>
              <a:t>With pay-as-you-go pricing model, business will pay for the resources what they used. This reduces upfront cost. </a:t>
            </a:r>
          </a:p>
          <a:p>
            <a:pPr marL="1143000" lvl="2" indent="-228600" rtl="0" fontAlgn="ctr">
              <a:buFont typeface="+mj-lt"/>
              <a:buAutoNum type="arabicPeriod"/>
            </a:pPr>
            <a:r>
              <a:rPr lang="en-US" sz="1100" b="0" i="0" dirty="0">
                <a:effectLst/>
                <a:latin typeface="Calibri" panose="020F0502020204030204" pitchFamily="34" charset="0"/>
              </a:rPr>
              <a:t>AWS Global infrastructure and distributed computing capabilities permits applications to scale seamlessly across regions and handle large datasets or high-value traffic. </a:t>
            </a:r>
          </a:p>
          <a:p>
            <a:pPr marL="742950" lvl="1" indent="-285750" rtl="0" fontAlgn="ctr">
              <a:buFont typeface="+mj-lt"/>
              <a:buAutoNum type="romanLcPeriod"/>
            </a:pPr>
            <a:r>
              <a:rPr lang="en-US" sz="1100" b="0" i="0" dirty="0">
                <a:effectLst/>
                <a:latin typeface="Calibri" panose="020F0502020204030204" pitchFamily="34" charset="0"/>
              </a:rPr>
              <a:t>Flexibility and access to model:</a:t>
            </a:r>
          </a:p>
          <a:p>
            <a:pPr marL="1143000" lvl="2" indent="-228600" rtl="0" fontAlgn="ctr">
              <a:buFont typeface="+mj-lt"/>
              <a:buAutoNum type="arabicPeriod"/>
            </a:pPr>
            <a:r>
              <a:rPr lang="en-US" sz="1100" b="0" i="0" dirty="0">
                <a:effectLst/>
                <a:latin typeface="Calibri" panose="020F0502020204030204" pitchFamily="34" charset="0"/>
              </a:rPr>
              <a:t>AWS continuously update and expands its AI services, to providing access to the latest advancements in machine learning models, techniques and algorithms. </a:t>
            </a:r>
          </a:p>
          <a:p>
            <a:pPr marL="1143000" lvl="2" indent="-228600" rtl="0" fontAlgn="ctr">
              <a:buFont typeface="+mj-lt"/>
              <a:buAutoNum type="arabicPeriod"/>
            </a:pPr>
            <a:r>
              <a:rPr lang="en-US" sz="1100" b="0" i="0" dirty="0">
                <a:effectLst/>
                <a:latin typeface="Calibri" panose="020F0502020204030204" pitchFamily="34" charset="0"/>
              </a:rPr>
              <a:t>Amazon bedrock offers a choice of high performing FM's from AI leading companies like AI21 labs, Anthropic, Cohere, Meta, Stability AI and AWS, through a single API. </a:t>
            </a:r>
          </a:p>
          <a:p>
            <a:pPr marL="742950" lvl="1" indent="-285750" rtl="0" fontAlgn="ctr">
              <a:buFont typeface="+mj-lt"/>
              <a:buAutoNum type="romanLcPeriod"/>
            </a:pPr>
            <a:r>
              <a:rPr lang="en-US" sz="1100" b="0" i="0" dirty="0">
                <a:effectLst/>
                <a:latin typeface="Calibri" panose="020F0502020204030204" pitchFamily="34" charset="0"/>
              </a:rPr>
              <a:t>Integration with AWS tools and services: </a:t>
            </a:r>
          </a:p>
          <a:p>
            <a:pPr marL="1143000" lvl="2" indent="-228600" rtl="0" fontAlgn="ctr">
              <a:buFont typeface="+mj-lt"/>
              <a:buAutoNum type="arabicPeriod"/>
            </a:pPr>
            <a:r>
              <a:rPr lang="en-US" sz="1100" b="0" i="0" dirty="0">
                <a:effectLst/>
                <a:latin typeface="Calibri" panose="020F0502020204030204" pitchFamily="34" charset="0"/>
              </a:rPr>
              <a:t>Services like Amazon comprehend and Amazon </a:t>
            </a:r>
            <a:r>
              <a:rPr lang="en-US" sz="1100" b="0" i="0" dirty="0" err="1">
                <a:effectLst/>
                <a:latin typeface="Calibri" panose="020F0502020204030204" pitchFamily="34" charset="0"/>
              </a:rPr>
              <a:t>Rekogniztion</a:t>
            </a:r>
            <a:r>
              <a:rPr lang="en-US" sz="1100" b="0" i="0" dirty="0">
                <a:effectLst/>
                <a:latin typeface="Calibri" panose="020F0502020204030204" pitchFamily="34" charset="0"/>
              </a:rPr>
              <a:t>  offers ready to use AI capabilities that can be readily integrated into applications. </a:t>
            </a:r>
          </a:p>
          <a:p>
            <a:pPr marL="1143000" lvl="2" indent="-228600" rtl="0" fontAlgn="ctr">
              <a:buFont typeface="+mj-lt"/>
              <a:buAutoNum type="arabicPeriod"/>
            </a:pPr>
            <a:r>
              <a:rPr lang="en-US" sz="1100" b="0" i="0" dirty="0">
                <a:effectLst/>
                <a:latin typeface="Calibri" panose="020F0502020204030204" pitchFamily="34" charset="0"/>
              </a:rPr>
              <a:t>AWS AI Services seamlessly integrated with other AWS services, so that developers can provide end to end solutions that use multiple cloud services. </a:t>
            </a:r>
          </a:p>
          <a:p>
            <a:pPr marL="1143000" lvl="2" indent="-228600" rtl="0" fontAlgn="ctr">
              <a:buFont typeface="+mj-lt"/>
              <a:buAutoNum type="arabicPeriod"/>
            </a:pPr>
            <a:r>
              <a:rPr lang="en-US" sz="1100" b="0" i="0" dirty="0">
                <a:effectLst/>
                <a:latin typeface="Calibri" panose="020F0502020204030204" pitchFamily="34" charset="0"/>
              </a:rPr>
              <a:t>AWS eco system provide wide range of tools like SDK's and API's. So that developers can </a:t>
            </a:r>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20</a:t>
            </a:fld>
            <a:endParaRPr lang="en-US"/>
          </a:p>
        </p:txBody>
      </p:sp>
      <p:sp>
        <p:nvSpPr>
          <p:cNvPr id="5" name="Footer Placeholder 4">
            <a:extLst>
              <a:ext uri="{FF2B5EF4-FFF2-40B4-BE49-F238E27FC236}">
                <a16:creationId xmlns:a16="http://schemas.microsoft.com/office/drawing/2014/main" id="{F43E367A-CA6B-BD96-25D2-A40520FFDA5C}"/>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38128692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ctr">
              <a:buFont typeface="+mj-lt"/>
              <a:buAutoNum type="arabicPeriod"/>
            </a:pPr>
            <a:r>
              <a:rPr lang="en-US" sz="1800" b="0" i="0" dirty="0">
                <a:effectLst/>
                <a:latin typeface="Calibri" panose="020F0502020204030204" pitchFamily="34" charset="0"/>
              </a:rPr>
              <a:t>Responsiveness and availability: AWS Generative AI services are designed to be high responsiveness and available. However, high levels of availability and responsiveness will cost more. For example, services lower latency and high availability will typical have high cost compare to lower performance. </a:t>
            </a:r>
          </a:p>
          <a:p>
            <a:pPr rtl="0" fontAlgn="ctr">
              <a:buFont typeface="+mj-lt"/>
              <a:buAutoNum type="arabicPeriod"/>
            </a:pPr>
            <a:r>
              <a:rPr lang="en-US" sz="1800" b="0" i="0" dirty="0">
                <a:effectLst/>
                <a:latin typeface="Calibri" panose="020F0502020204030204" pitchFamily="34" charset="0"/>
              </a:rPr>
              <a:t>Redundancy and reginal coverage: To ensure redundancy and regional coverage, AWS Generative AI services will deploy into multiple availability zones across multiple regions. This might cause some additional cost as well. </a:t>
            </a:r>
          </a:p>
          <a:p>
            <a:pPr rtl="0" fontAlgn="ctr">
              <a:buFont typeface="+mj-lt"/>
              <a:buAutoNum type="arabicPeriod"/>
            </a:pPr>
            <a:r>
              <a:rPr lang="en-US" sz="1800" b="0" i="0" dirty="0">
                <a:effectLst/>
                <a:latin typeface="Calibri" panose="020F0502020204030204" pitchFamily="34" charset="0"/>
              </a:rPr>
              <a:t>Performance: AWS offers different compute options for generative AI services. High performance options such as GPU will be higher cost but it will be significant performance improvements for certain workloads. </a:t>
            </a:r>
          </a:p>
          <a:p>
            <a:pPr rtl="0" fontAlgn="ctr">
              <a:buFont typeface="+mj-lt"/>
              <a:buAutoNum type="arabicPeriod"/>
            </a:pPr>
            <a:r>
              <a:rPr lang="en-US" sz="1800" b="0" i="0" dirty="0">
                <a:effectLst/>
                <a:latin typeface="Calibri" panose="020F0502020204030204" pitchFamily="34" charset="0"/>
              </a:rPr>
              <a:t>Token based pricing: Many amazon AI Services are token based pricing services. For example, Amazon Q developer and Amazon bedrock uses token based pricing. That means, you pay for the number of tokens generated or process by the service. </a:t>
            </a:r>
          </a:p>
          <a:p>
            <a:pPr rtl="0" fontAlgn="ctr">
              <a:buFont typeface="+mj-lt"/>
              <a:buAutoNum type="arabicPeriod"/>
            </a:pPr>
            <a:r>
              <a:rPr lang="en-US" sz="1800" b="0" i="0" dirty="0">
                <a:effectLst/>
                <a:latin typeface="Calibri" panose="020F0502020204030204" pitchFamily="34" charset="0"/>
              </a:rPr>
              <a:t>Provision throughput: Some of the services like amazon </a:t>
            </a:r>
            <a:r>
              <a:rPr lang="en-US" sz="1800" b="0" i="0" dirty="0" err="1">
                <a:effectLst/>
                <a:latin typeface="Calibri" panose="020F0502020204030204" pitchFamily="34" charset="0"/>
              </a:rPr>
              <a:t>polly</a:t>
            </a:r>
            <a:r>
              <a:rPr lang="en-US" sz="1800" b="0" i="0" dirty="0">
                <a:effectLst/>
                <a:latin typeface="Calibri" panose="020F0502020204030204" pitchFamily="34" charset="0"/>
              </a:rPr>
              <a:t> and amazon transcribe will let you provision specific throughput in advance. Higher throughput typically come at higher cost. </a:t>
            </a:r>
          </a:p>
          <a:p>
            <a:pPr rtl="0" fontAlgn="ctr">
              <a:buFont typeface="+mj-lt"/>
              <a:buAutoNum type="arabicPeriod"/>
            </a:pPr>
            <a:r>
              <a:rPr lang="en-US" sz="1800" b="0" i="0" dirty="0">
                <a:effectLst/>
                <a:latin typeface="Calibri" panose="020F0502020204030204" pitchFamily="34" charset="0"/>
              </a:rPr>
              <a:t>Custom models: Amazon AI Services allow to custom models or fine tune FM's. Training and deploying custom models will incur some cost depending on complexity of the model, training data and compute resources required. </a:t>
            </a:r>
          </a:p>
          <a:p>
            <a:endParaRPr lang="en-US" dirty="0"/>
          </a:p>
        </p:txBody>
      </p:sp>
      <p:sp>
        <p:nvSpPr>
          <p:cNvPr id="4" name="Slide Number Placeholder 3"/>
          <p:cNvSpPr>
            <a:spLocks noGrp="1"/>
          </p:cNvSpPr>
          <p:nvPr>
            <p:ph type="sldNum" sz="quarter" idx="5"/>
          </p:nvPr>
        </p:nvSpPr>
        <p:spPr/>
        <p:txBody>
          <a:bodyPr/>
          <a:lstStyle/>
          <a:p>
            <a:fld id="{2C5DC2D9-6E94-4E31-ACDD-1E8D9B4BB84C}" type="slidenum">
              <a:rPr lang="en-US" smtClean="0"/>
              <a:t>21</a:t>
            </a:fld>
            <a:endParaRPr lang="en-US"/>
          </a:p>
        </p:txBody>
      </p:sp>
      <p:sp>
        <p:nvSpPr>
          <p:cNvPr id="5" name="Footer Placeholder 4">
            <a:extLst>
              <a:ext uri="{FF2B5EF4-FFF2-40B4-BE49-F238E27FC236}">
                <a16:creationId xmlns:a16="http://schemas.microsoft.com/office/drawing/2014/main" id="{07669A53-4C79-01B0-4C09-7E05BBF423AF}"/>
              </a:ext>
            </a:extLst>
          </p:cNvPr>
          <p:cNvSpPr>
            <a:spLocks noGrp="1"/>
          </p:cNvSpPr>
          <p:nvPr>
            <p:ph type="ftr" sz="quarter" idx="4"/>
          </p:nvPr>
        </p:nvSpPr>
        <p:spPr/>
        <p:txBody>
          <a:bodyPr/>
          <a:lstStyle/>
          <a:p>
            <a:r>
              <a:rPr lang="en-US"/>
              <a:t>AWS AI Practitioner</a:t>
            </a:r>
          </a:p>
        </p:txBody>
      </p:sp>
    </p:spTree>
    <p:extLst>
      <p:ext uri="{BB962C8B-B14F-4D97-AF65-F5344CB8AC3E}">
        <p14:creationId xmlns:p14="http://schemas.microsoft.com/office/powerpoint/2010/main" val="1011248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232B37"/>
                </a:solidFill>
                <a:effectLst/>
                <a:latin typeface="Amazon Ember Display"/>
              </a:rPr>
              <a:t>With Amazon Bedrock, you can create an agent in just a few quick steps by first selecting an FM and providing it access to your enterprise systems, knowledge bases, and AWS Lambda functions to securely execute your APIs. An agent analyzes the user request and automatically calls the necessary APIs and data sources to fulfill the request. Agents for Amazon Bedrock offer enhanced security and privacy—no need for you to engineer prompts, manage session context, or manually orchestrate tasks.</a:t>
            </a:r>
            <a:endParaRPr lang="en-US" sz="1200" dirty="0"/>
          </a:p>
          <a:p>
            <a:endParaRPr lang="en-US" dirty="0"/>
          </a:p>
          <a:p>
            <a:pPr algn="l">
              <a:spcAft>
                <a:spcPts val="1200"/>
              </a:spcAft>
            </a:pPr>
            <a:r>
              <a:rPr lang="en-US" b="1" i="0" dirty="0">
                <a:effectLst/>
                <a:latin typeface="Amazon Ember Display"/>
              </a:rPr>
              <a:t>Multi-agent collaboration</a:t>
            </a:r>
          </a:p>
          <a:p>
            <a:pPr algn="l"/>
            <a:r>
              <a:rPr lang="en-US" b="0" i="0" dirty="0">
                <a:effectLst/>
                <a:latin typeface="Amazon Ember Display"/>
              </a:rPr>
              <a:t>Amazon Bedrock multi-agent collaboration allows developers to build, deploy, and manage multiple specialized agents seamlessly working together to address increasingly complex business workflows. </a:t>
            </a:r>
          </a:p>
          <a:p>
            <a:pPr algn="l"/>
            <a:r>
              <a:rPr lang="en-US" b="0" i="0" dirty="0">
                <a:effectLst/>
                <a:latin typeface="Amazon Ember Display"/>
              </a:rPr>
              <a:t>Each agent focuses on specific tasks under the coordination of a supervisor agent, which breaks down intricate processes into manageable steps to ensure precision and reliability. </a:t>
            </a:r>
          </a:p>
          <a:p>
            <a:pPr algn="l"/>
            <a:r>
              <a:rPr lang="en-US" b="0" i="0" dirty="0">
                <a:effectLst/>
                <a:latin typeface="Amazon Ember Display"/>
              </a:rPr>
              <a:t>By automating these complex operational processes, businesses can free their teams from operational burdens, allowing them to focus on innovation and deliver real business value.</a:t>
            </a:r>
          </a:p>
          <a:p>
            <a:endParaRPr lang="en-US" dirty="0"/>
          </a:p>
          <a:p>
            <a:pPr algn="l">
              <a:spcAft>
                <a:spcPts val="1200"/>
              </a:spcAft>
            </a:pPr>
            <a:r>
              <a:rPr lang="en-US" b="1" i="0" dirty="0">
                <a:effectLst/>
                <a:latin typeface="Amazon Ember Display"/>
              </a:rPr>
              <a:t>Retrieval augmented generation</a:t>
            </a:r>
          </a:p>
          <a:p>
            <a:pPr algn="l"/>
            <a:r>
              <a:rPr lang="en-US" b="0" i="0" dirty="0">
                <a:effectLst/>
                <a:latin typeface="Amazon Ember Display"/>
              </a:rPr>
              <a:t>Agents securely connect to your company’s data sources and augment the user request with the right information to generate an accurate response. </a:t>
            </a:r>
          </a:p>
          <a:p>
            <a:pPr algn="l"/>
            <a:endParaRPr lang="en-US" b="0" i="0" dirty="0">
              <a:effectLst/>
              <a:latin typeface="Amazon Ember Display"/>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effectLst/>
                <a:latin typeface="Amazon Ember Display"/>
              </a:rPr>
              <a:t>Orchestrate and execute multistep tasks</a:t>
            </a:r>
          </a:p>
          <a:p>
            <a:pPr algn="l"/>
            <a:r>
              <a:rPr lang="en-US" b="0" i="0" dirty="0">
                <a:solidFill>
                  <a:srgbClr val="232B37"/>
                </a:solidFill>
                <a:effectLst/>
                <a:latin typeface="Amazon Ember Display"/>
              </a:rPr>
              <a:t>Customers can create an agent in Amazon Bedrock in just a few quick steps, accelerating the time it takes to build generative AI applications. Customers first select a model and write a few instructions in natural language, for example, “you are an inventory management agent that determines product availability in the inventory system”. Agents orchestrate and analyze the task and break it down into the correct logical sequence using the FM’s reasoning abilities. Agents automatically call the necessary APIs to transact with the company systems and processes to fulfill the request, determining along the way if they can proceed or if they need to gather more information. </a:t>
            </a:r>
          </a:p>
          <a:p>
            <a:pPr algn="l">
              <a:spcAft>
                <a:spcPts val="1200"/>
              </a:spcAft>
            </a:pPr>
            <a:r>
              <a:rPr lang="en-US" b="1" i="0" dirty="0">
                <a:effectLst/>
                <a:latin typeface="Amazon Ember Display"/>
              </a:rPr>
              <a:t>Memory retention across interactions</a:t>
            </a:r>
          </a:p>
          <a:p>
            <a:pPr algn="l"/>
            <a:r>
              <a:rPr lang="en-US" b="0" i="0" dirty="0">
                <a:effectLst/>
                <a:latin typeface="Amazon Ember Display"/>
              </a:rPr>
              <a:t>Agents have the ability to retain memory across interactions, offering more personalized and seamless user experiences. This feature allows an agent to remember historical interactions and improves the accuracy of multistep tasks. Users benefit from improved recommendations and recall of prior context when required, ensuring a more cohesive and efficient interaction with the agent.</a:t>
            </a:r>
          </a:p>
          <a:p>
            <a:pPr algn="l"/>
            <a:endParaRPr lang="en-US" dirty="0"/>
          </a:p>
          <a:p>
            <a:pPr algn="l">
              <a:spcAft>
                <a:spcPts val="1200"/>
              </a:spcAft>
            </a:pPr>
            <a:r>
              <a:rPr lang="en-US" b="1" i="0" dirty="0">
                <a:effectLst/>
                <a:latin typeface="Amazon Ember Display"/>
              </a:rPr>
              <a:t>Prompt engineering</a:t>
            </a:r>
          </a:p>
          <a:p>
            <a:pPr algn="l"/>
            <a:r>
              <a:rPr lang="en-US" b="0" i="0" dirty="0">
                <a:effectLst/>
                <a:latin typeface="Amazon Ember Display"/>
              </a:rPr>
              <a:t>Agents automatically create a prompt template from the user instructions, action group, and knowledge bases. You can use this template as a baseline to further refine the automatically generated prompt template to enhance the user experience. You can also update the user input, orchestration plan, and the FM response. Lastly, with the ability to modify the prompt template, you gain better control over the agent orchestration.</a:t>
            </a:r>
          </a:p>
          <a:p>
            <a:pPr algn="l"/>
            <a:endParaRPr lang="en-US" dirty="0"/>
          </a:p>
        </p:txBody>
      </p:sp>
      <p:sp>
        <p:nvSpPr>
          <p:cNvPr id="4" name="Footer Placeholder 3"/>
          <p:cNvSpPr>
            <a:spLocks noGrp="1"/>
          </p:cNvSpPr>
          <p:nvPr>
            <p:ph type="ftr" sz="quarter" idx="4"/>
          </p:nvPr>
        </p:nvSpPr>
        <p:spPr/>
        <p:txBody>
          <a:bodyPr/>
          <a:lstStyle/>
          <a:p>
            <a:r>
              <a:rPr lang="en-US"/>
              <a:t>AWS AI Practitioner</a:t>
            </a:r>
          </a:p>
        </p:txBody>
      </p:sp>
      <p:sp>
        <p:nvSpPr>
          <p:cNvPr id="5" name="Slide Number Placeholder 4"/>
          <p:cNvSpPr>
            <a:spLocks noGrp="1"/>
          </p:cNvSpPr>
          <p:nvPr>
            <p:ph type="sldNum" sz="quarter" idx="5"/>
          </p:nvPr>
        </p:nvSpPr>
        <p:spPr/>
        <p:txBody>
          <a:bodyPr/>
          <a:lstStyle/>
          <a:p>
            <a:fld id="{2C5DC2D9-6E94-4E31-ACDD-1E8D9B4BB84C}" type="slidenum">
              <a:rPr lang="en-US" smtClean="0"/>
              <a:t>22</a:t>
            </a:fld>
            <a:endParaRPr lang="en-US"/>
          </a:p>
        </p:txBody>
      </p:sp>
    </p:spTree>
    <p:extLst>
      <p:ext uri="{BB962C8B-B14F-4D97-AF65-F5344CB8AC3E}">
        <p14:creationId xmlns:p14="http://schemas.microsoft.com/office/powerpoint/2010/main" val="6638917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AWS </a:t>
            </a:r>
            <a:r>
              <a:rPr lang="en-US" dirty="0" err="1"/>
              <a:t>Rekognition</a:t>
            </a:r>
            <a:r>
              <a:rPr lang="en-US" dirty="0"/>
              <a:t>, we can get the real time processing data now we can process that data using other tools like AWS Comprehend, </a:t>
            </a:r>
            <a:r>
              <a:rPr lang="en-US" dirty="0" err="1"/>
              <a:t>textract</a:t>
            </a:r>
            <a:r>
              <a:rPr lang="en-US" dirty="0"/>
              <a:t> and distribute the data into multiple platforms where it can be used or integrated into other services. </a:t>
            </a:r>
          </a:p>
        </p:txBody>
      </p:sp>
      <p:sp>
        <p:nvSpPr>
          <p:cNvPr id="4" name="Footer Placeholder 3"/>
          <p:cNvSpPr>
            <a:spLocks noGrp="1"/>
          </p:cNvSpPr>
          <p:nvPr>
            <p:ph type="ftr" sz="quarter" idx="4"/>
          </p:nvPr>
        </p:nvSpPr>
        <p:spPr/>
        <p:txBody>
          <a:bodyPr/>
          <a:lstStyle/>
          <a:p>
            <a:r>
              <a:rPr lang="en-US"/>
              <a:t>AWS AI Practitioner</a:t>
            </a:r>
          </a:p>
        </p:txBody>
      </p:sp>
      <p:sp>
        <p:nvSpPr>
          <p:cNvPr id="5" name="Slide Number Placeholder 4"/>
          <p:cNvSpPr>
            <a:spLocks noGrp="1"/>
          </p:cNvSpPr>
          <p:nvPr>
            <p:ph type="sldNum" sz="quarter" idx="5"/>
          </p:nvPr>
        </p:nvSpPr>
        <p:spPr/>
        <p:txBody>
          <a:bodyPr/>
          <a:lstStyle/>
          <a:p>
            <a:fld id="{2C5DC2D9-6E94-4E31-ACDD-1E8D9B4BB84C}" type="slidenum">
              <a:rPr lang="en-US" smtClean="0"/>
              <a:t>23</a:t>
            </a:fld>
            <a:endParaRPr lang="en-US"/>
          </a:p>
        </p:txBody>
      </p:sp>
    </p:spTree>
    <p:extLst>
      <p:ext uri="{BB962C8B-B14F-4D97-AF65-F5344CB8AC3E}">
        <p14:creationId xmlns:p14="http://schemas.microsoft.com/office/powerpoint/2010/main" val="179671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00313-94A2-2D1E-3414-827689331C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EF66B4-CFFB-4FDA-4667-5D306C4694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Footer Placeholder 6">
            <a:extLst>
              <a:ext uri="{FF2B5EF4-FFF2-40B4-BE49-F238E27FC236}">
                <a16:creationId xmlns:a16="http://schemas.microsoft.com/office/drawing/2014/main" id="{9C3B633A-4C2D-D68E-0B56-C5A86DA5FC5E}"/>
              </a:ext>
            </a:extLst>
          </p:cNvPr>
          <p:cNvSpPr>
            <a:spLocks noGrp="1"/>
          </p:cNvSpPr>
          <p:nvPr>
            <p:ph type="ftr" sz="quarter" idx="10"/>
          </p:nvPr>
        </p:nvSpPr>
        <p:spPr/>
        <p:txBody>
          <a:bodyPr/>
          <a:lstStyle/>
          <a:p>
            <a:r>
              <a:rPr lang="en-US"/>
              <a:t>AWS AI Practitioner - Intro</a:t>
            </a:r>
            <a:endParaRPr lang="en-US" dirty="0"/>
          </a:p>
        </p:txBody>
      </p:sp>
    </p:spTree>
    <p:extLst>
      <p:ext uri="{BB962C8B-B14F-4D97-AF65-F5344CB8AC3E}">
        <p14:creationId xmlns:p14="http://schemas.microsoft.com/office/powerpoint/2010/main" val="42478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91E16-C61B-B589-212E-D35F1A4019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304E64-6869-05A9-17A4-3F3468A71D08}"/>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418BF7F0-DB63-EAC3-BAA9-2C2A3E228216}"/>
              </a:ext>
            </a:extLst>
          </p:cNvPr>
          <p:cNvSpPr>
            <a:spLocks noGrp="1"/>
          </p:cNvSpPr>
          <p:nvPr>
            <p:ph type="ftr" sz="quarter" idx="10"/>
          </p:nvPr>
        </p:nvSpPr>
        <p:spPr/>
        <p:txBody>
          <a:bodyPr/>
          <a:lstStyle/>
          <a:p>
            <a:r>
              <a:rPr lang="en-US"/>
              <a:t>AWS AI Practitioner - Intro</a:t>
            </a:r>
            <a:endParaRPr lang="en-US" dirty="0"/>
          </a:p>
        </p:txBody>
      </p:sp>
    </p:spTree>
    <p:extLst>
      <p:ext uri="{BB962C8B-B14F-4D97-AF65-F5344CB8AC3E}">
        <p14:creationId xmlns:p14="http://schemas.microsoft.com/office/powerpoint/2010/main" val="4173894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F0B91-207D-0A2D-C2C3-58DF62A0B4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0ACEC6-1ED0-BAF2-BD9A-CEC889B161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96F9965-7E62-E920-D0A5-801BCED0C0BC}"/>
              </a:ext>
            </a:extLst>
          </p:cNvPr>
          <p:cNvSpPr>
            <a:spLocks noGrp="1"/>
          </p:cNvSpPr>
          <p:nvPr>
            <p:ph type="dt" sz="half" idx="10"/>
          </p:nvPr>
        </p:nvSpPr>
        <p:spPr>
          <a:xfrm>
            <a:off x="838200" y="6356350"/>
            <a:ext cx="2743200" cy="365125"/>
          </a:xfrm>
          <a:prstGeom prst="rect">
            <a:avLst/>
          </a:prstGeom>
        </p:spPr>
        <p:txBody>
          <a:bodyPr/>
          <a:lstStyle/>
          <a:p>
            <a:fld id="{90E604F0-5252-4109-A206-29441A534234}" type="datetimeFigureOut">
              <a:rPr lang="en-US" smtClean="0"/>
              <a:t>12/29/2025</a:t>
            </a:fld>
            <a:endParaRPr lang="en-US"/>
          </a:p>
        </p:txBody>
      </p:sp>
      <p:sp>
        <p:nvSpPr>
          <p:cNvPr id="5" name="Footer Placeholder 4">
            <a:extLst>
              <a:ext uri="{FF2B5EF4-FFF2-40B4-BE49-F238E27FC236}">
                <a16:creationId xmlns:a16="http://schemas.microsoft.com/office/drawing/2014/main" id="{2D022B0D-B992-582B-5F4D-1085CA88743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DCCD7F0-DD5B-2C9D-99DC-D0DD6A3F1C61}"/>
              </a:ext>
            </a:extLst>
          </p:cNvPr>
          <p:cNvSpPr>
            <a:spLocks noGrp="1"/>
          </p:cNvSpPr>
          <p:nvPr>
            <p:ph type="sldNum" sz="quarter" idx="12"/>
          </p:nvPr>
        </p:nvSpPr>
        <p:spPr>
          <a:xfrm>
            <a:off x="8610600" y="6356350"/>
            <a:ext cx="2743200" cy="365125"/>
          </a:xfrm>
          <a:prstGeom prst="rect">
            <a:avLst/>
          </a:prstGeom>
        </p:spPr>
        <p:txBody>
          <a:bodyPr/>
          <a:lstStyle/>
          <a:p>
            <a:fld id="{168685D4-1193-4DEF-8E8F-F074659AABF9}" type="slidenum">
              <a:rPr lang="en-US" smtClean="0"/>
              <a:t>‹#›</a:t>
            </a:fld>
            <a:endParaRPr lang="en-US"/>
          </a:p>
        </p:txBody>
      </p:sp>
    </p:spTree>
    <p:extLst>
      <p:ext uri="{BB962C8B-B14F-4D97-AF65-F5344CB8AC3E}">
        <p14:creationId xmlns:p14="http://schemas.microsoft.com/office/powerpoint/2010/main" val="8928174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023A8-3BEB-3FA4-DA86-015C11BEE3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14D4A2-8DEE-868C-5F4E-7BB2D42070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D4F792-DE59-EEC6-B299-114129F2DB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162CFE-B456-D19F-87E4-7F1571FFE6AA}"/>
              </a:ext>
            </a:extLst>
          </p:cNvPr>
          <p:cNvSpPr>
            <a:spLocks noGrp="1"/>
          </p:cNvSpPr>
          <p:nvPr>
            <p:ph type="dt" sz="half" idx="10"/>
          </p:nvPr>
        </p:nvSpPr>
        <p:spPr>
          <a:xfrm>
            <a:off x="838200" y="6356350"/>
            <a:ext cx="2743200" cy="365125"/>
          </a:xfrm>
          <a:prstGeom prst="rect">
            <a:avLst/>
          </a:prstGeom>
        </p:spPr>
        <p:txBody>
          <a:bodyPr/>
          <a:lstStyle/>
          <a:p>
            <a:fld id="{90E604F0-5252-4109-A206-29441A534234}" type="datetimeFigureOut">
              <a:rPr lang="en-US" smtClean="0"/>
              <a:t>12/29/2025</a:t>
            </a:fld>
            <a:endParaRPr lang="en-US"/>
          </a:p>
        </p:txBody>
      </p:sp>
      <p:sp>
        <p:nvSpPr>
          <p:cNvPr id="6" name="Footer Placeholder 5">
            <a:extLst>
              <a:ext uri="{FF2B5EF4-FFF2-40B4-BE49-F238E27FC236}">
                <a16:creationId xmlns:a16="http://schemas.microsoft.com/office/drawing/2014/main" id="{6D054FD3-1576-4162-AE64-49031A66DA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A93A1-58F1-6D4A-E498-5A6F67D5155E}"/>
              </a:ext>
            </a:extLst>
          </p:cNvPr>
          <p:cNvSpPr>
            <a:spLocks noGrp="1"/>
          </p:cNvSpPr>
          <p:nvPr>
            <p:ph type="sldNum" sz="quarter" idx="12"/>
          </p:nvPr>
        </p:nvSpPr>
        <p:spPr>
          <a:xfrm>
            <a:off x="8610600" y="6356350"/>
            <a:ext cx="2743200" cy="365125"/>
          </a:xfrm>
          <a:prstGeom prst="rect">
            <a:avLst/>
          </a:prstGeom>
        </p:spPr>
        <p:txBody>
          <a:bodyPr/>
          <a:lstStyle/>
          <a:p>
            <a:fld id="{168685D4-1193-4DEF-8E8F-F074659AABF9}" type="slidenum">
              <a:rPr lang="en-US" smtClean="0"/>
              <a:t>‹#›</a:t>
            </a:fld>
            <a:endParaRPr lang="en-US"/>
          </a:p>
        </p:txBody>
      </p:sp>
    </p:spTree>
    <p:extLst>
      <p:ext uri="{BB962C8B-B14F-4D97-AF65-F5344CB8AC3E}">
        <p14:creationId xmlns:p14="http://schemas.microsoft.com/office/powerpoint/2010/main" val="3773134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D5C73-CD62-8D35-22F2-F7DAC137C2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DBFCC-2C80-7F54-2445-023801CD0F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860F32-8A5F-DB71-89D6-7443692D53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47E96D-8D8D-988A-9E3C-CC03AA72E0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22BCE2-AF29-48D3-B9AC-870EF69404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DD5FAF-B9F9-E232-9C83-5CA705E63909}"/>
              </a:ext>
            </a:extLst>
          </p:cNvPr>
          <p:cNvSpPr>
            <a:spLocks noGrp="1"/>
          </p:cNvSpPr>
          <p:nvPr>
            <p:ph type="dt" sz="half" idx="10"/>
          </p:nvPr>
        </p:nvSpPr>
        <p:spPr>
          <a:xfrm>
            <a:off x="838200" y="6356350"/>
            <a:ext cx="2743200" cy="365125"/>
          </a:xfrm>
          <a:prstGeom prst="rect">
            <a:avLst/>
          </a:prstGeom>
        </p:spPr>
        <p:txBody>
          <a:bodyPr/>
          <a:lstStyle/>
          <a:p>
            <a:fld id="{90E604F0-5252-4109-A206-29441A534234}" type="datetimeFigureOut">
              <a:rPr lang="en-US" smtClean="0"/>
              <a:t>12/29/2025</a:t>
            </a:fld>
            <a:endParaRPr lang="en-US"/>
          </a:p>
        </p:txBody>
      </p:sp>
      <p:sp>
        <p:nvSpPr>
          <p:cNvPr id="8" name="Footer Placeholder 7">
            <a:extLst>
              <a:ext uri="{FF2B5EF4-FFF2-40B4-BE49-F238E27FC236}">
                <a16:creationId xmlns:a16="http://schemas.microsoft.com/office/drawing/2014/main" id="{8E2D7A65-854A-7F26-DF6B-2DE3D94EFD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241396-46A7-CA88-4A94-F0FCF6646023}"/>
              </a:ext>
            </a:extLst>
          </p:cNvPr>
          <p:cNvSpPr>
            <a:spLocks noGrp="1"/>
          </p:cNvSpPr>
          <p:nvPr>
            <p:ph type="sldNum" sz="quarter" idx="12"/>
          </p:nvPr>
        </p:nvSpPr>
        <p:spPr>
          <a:xfrm>
            <a:off x="8610600" y="6356350"/>
            <a:ext cx="2743200" cy="365125"/>
          </a:xfrm>
          <a:prstGeom prst="rect">
            <a:avLst/>
          </a:prstGeom>
        </p:spPr>
        <p:txBody>
          <a:bodyPr/>
          <a:lstStyle/>
          <a:p>
            <a:fld id="{168685D4-1193-4DEF-8E8F-F074659AABF9}" type="slidenum">
              <a:rPr lang="en-US" smtClean="0"/>
              <a:t>‹#›</a:t>
            </a:fld>
            <a:endParaRPr lang="en-US"/>
          </a:p>
        </p:txBody>
      </p:sp>
    </p:spTree>
    <p:extLst>
      <p:ext uri="{BB962C8B-B14F-4D97-AF65-F5344CB8AC3E}">
        <p14:creationId xmlns:p14="http://schemas.microsoft.com/office/powerpoint/2010/main" val="1023404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49FBE-3AC8-02F7-0E06-DDED010493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BE536A-178C-59CE-0E2A-663343DF26B1}"/>
              </a:ext>
            </a:extLst>
          </p:cNvPr>
          <p:cNvSpPr>
            <a:spLocks noGrp="1"/>
          </p:cNvSpPr>
          <p:nvPr>
            <p:ph type="dt" sz="half" idx="10"/>
          </p:nvPr>
        </p:nvSpPr>
        <p:spPr>
          <a:xfrm>
            <a:off x="838200" y="6356350"/>
            <a:ext cx="2743200" cy="365125"/>
          </a:xfrm>
          <a:prstGeom prst="rect">
            <a:avLst/>
          </a:prstGeom>
        </p:spPr>
        <p:txBody>
          <a:bodyPr/>
          <a:lstStyle/>
          <a:p>
            <a:fld id="{90E604F0-5252-4109-A206-29441A534234}" type="datetimeFigureOut">
              <a:rPr lang="en-US" smtClean="0"/>
              <a:t>12/29/2025</a:t>
            </a:fld>
            <a:endParaRPr lang="en-US"/>
          </a:p>
        </p:txBody>
      </p:sp>
      <p:sp>
        <p:nvSpPr>
          <p:cNvPr id="4" name="Footer Placeholder 3">
            <a:extLst>
              <a:ext uri="{FF2B5EF4-FFF2-40B4-BE49-F238E27FC236}">
                <a16:creationId xmlns:a16="http://schemas.microsoft.com/office/drawing/2014/main" id="{C058520F-36B6-B60B-31EE-30580E500C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FAD57B-AFC1-59B4-0816-AE523142B9F6}"/>
              </a:ext>
            </a:extLst>
          </p:cNvPr>
          <p:cNvSpPr>
            <a:spLocks noGrp="1"/>
          </p:cNvSpPr>
          <p:nvPr>
            <p:ph type="sldNum" sz="quarter" idx="12"/>
          </p:nvPr>
        </p:nvSpPr>
        <p:spPr>
          <a:xfrm>
            <a:off x="8610600" y="6356350"/>
            <a:ext cx="2743200" cy="365125"/>
          </a:xfrm>
          <a:prstGeom prst="rect">
            <a:avLst/>
          </a:prstGeom>
        </p:spPr>
        <p:txBody>
          <a:bodyPr/>
          <a:lstStyle/>
          <a:p>
            <a:fld id="{168685D4-1193-4DEF-8E8F-F074659AABF9}" type="slidenum">
              <a:rPr lang="en-US" smtClean="0"/>
              <a:t>‹#›</a:t>
            </a:fld>
            <a:endParaRPr lang="en-US"/>
          </a:p>
        </p:txBody>
      </p:sp>
    </p:spTree>
    <p:extLst>
      <p:ext uri="{BB962C8B-B14F-4D97-AF65-F5344CB8AC3E}">
        <p14:creationId xmlns:p14="http://schemas.microsoft.com/office/powerpoint/2010/main" val="2623576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B28209-0819-F279-8144-3F0608F8DE3F}"/>
              </a:ext>
            </a:extLst>
          </p:cNvPr>
          <p:cNvSpPr>
            <a:spLocks noGrp="1"/>
          </p:cNvSpPr>
          <p:nvPr>
            <p:ph type="dt" sz="half" idx="10"/>
          </p:nvPr>
        </p:nvSpPr>
        <p:spPr>
          <a:xfrm>
            <a:off x="838200" y="6356350"/>
            <a:ext cx="2743200" cy="365125"/>
          </a:xfrm>
          <a:prstGeom prst="rect">
            <a:avLst/>
          </a:prstGeom>
        </p:spPr>
        <p:txBody>
          <a:bodyPr/>
          <a:lstStyle/>
          <a:p>
            <a:fld id="{90E604F0-5252-4109-A206-29441A534234}" type="datetimeFigureOut">
              <a:rPr lang="en-US" smtClean="0"/>
              <a:t>12/29/2025</a:t>
            </a:fld>
            <a:endParaRPr lang="en-US"/>
          </a:p>
        </p:txBody>
      </p:sp>
      <p:sp>
        <p:nvSpPr>
          <p:cNvPr id="3" name="Footer Placeholder 2">
            <a:extLst>
              <a:ext uri="{FF2B5EF4-FFF2-40B4-BE49-F238E27FC236}">
                <a16:creationId xmlns:a16="http://schemas.microsoft.com/office/drawing/2014/main" id="{8F1E2522-A87C-B91D-B0A2-B6F1086E30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715255-DAD4-E31E-6C3F-F88E1DF20A4E}"/>
              </a:ext>
            </a:extLst>
          </p:cNvPr>
          <p:cNvSpPr>
            <a:spLocks noGrp="1"/>
          </p:cNvSpPr>
          <p:nvPr>
            <p:ph type="sldNum" sz="quarter" idx="12"/>
          </p:nvPr>
        </p:nvSpPr>
        <p:spPr>
          <a:xfrm>
            <a:off x="8610600" y="6356350"/>
            <a:ext cx="2743200" cy="365125"/>
          </a:xfrm>
          <a:prstGeom prst="rect">
            <a:avLst/>
          </a:prstGeom>
        </p:spPr>
        <p:txBody>
          <a:bodyPr/>
          <a:lstStyle/>
          <a:p>
            <a:fld id="{168685D4-1193-4DEF-8E8F-F074659AABF9}" type="slidenum">
              <a:rPr lang="en-US" smtClean="0"/>
              <a:t>‹#›</a:t>
            </a:fld>
            <a:endParaRPr lang="en-US"/>
          </a:p>
        </p:txBody>
      </p:sp>
    </p:spTree>
    <p:extLst>
      <p:ext uri="{BB962C8B-B14F-4D97-AF65-F5344CB8AC3E}">
        <p14:creationId xmlns:p14="http://schemas.microsoft.com/office/powerpoint/2010/main" val="3449401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CA831-52C4-090F-A9D3-B032FD74BC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249AAE-8E3E-CB73-8417-248DCA929C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9DED8F-AC8C-6F66-2672-A28ECF546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299602-C6C8-2689-413A-6B55FDCAF181}"/>
              </a:ext>
            </a:extLst>
          </p:cNvPr>
          <p:cNvSpPr>
            <a:spLocks noGrp="1"/>
          </p:cNvSpPr>
          <p:nvPr>
            <p:ph type="dt" sz="half" idx="10"/>
          </p:nvPr>
        </p:nvSpPr>
        <p:spPr>
          <a:xfrm>
            <a:off x="838200" y="6356350"/>
            <a:ext cx="2743200" cy="365125"/>
          </a:xfrm>
          <a:prstGeom prst="rect">
            <a:avLst/>
          </a:prstGeom>
        </p:spPr>
        <p:txBody>
          <a:bodyPr/>
          <a:lstStyle/>
          <a:p>
            <a:fld id="{90E604F0-5252-4109-A206-29441A534234}" type="datetimeFigureOut">
              <a:rPr lang="en-US" smtClean="0"/>
              <a:t>12/29/2025</a:t>
            </a:fld>
            <a:endParaRPr lang="en-US"/>
          </a:p>
        </p:txBody>
      </p:sp>
      <p:sp>
        <p:nvSpPr>
          <p:cNvPr id="6" name="Footer Placeholder 5">
            <a:extLst>
              <a:ext uri="{FF2B5EF4-FFF2-40B4-BE49-F238E27FC236}">
                <a16:creationId xmlns:a16="http://schemas.microsoft.com/office/drawing/2014/main" id="{68E7B754-A2A6-5364-EAAE-C0FCA9D9A2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FA7523-E783-4CF5-F406-E6FB16DA1582}"/>
              </a:ext>
            </a:extLst>
          </p:cNvPr>
          <p:cNvSpPr>
            <a:spLocks noGrp="1"/>
          </p:cNvSpPr>
          <p:nvPr>
            <p:ph type="sldNum" sz="quarter" idx="12"/>
          </p:nvPr>
        </p:nvSpPr>
        <p:spPr>
          <a:xfrm>
            <a:off x="8610600" y="6356350"/>
            <a:ext cx="2743200" cy="365125"/>
          </a:xfrm>
          <a:prstGeom prst="rect">
            <a:avLst/>
          </a:prstGeom>
        </p:spPr>
        <p:txBody>
          <a:bodyPr/>
          <a:lstStyle/>
          <a:p>
            <a:fld id="{168685D4-1193-4DEF-8E8F-F074659AABF9}" type="slidenum">
              <a:rPr lang="en-US" smtClean="0"/>
              <a:t>‹#›</a:t>
            </a:fld>
            <a:endParaRPr lang="en-US"/>
          </a:p>
        </p:txBody>
      </p:sp>
    </p:spTree>
    <p:extLst>
      <p:ext uri="{BB962C8B-B14F-4D97-AF65-F5344CB8AC3E}">
        <p14:creationId xmlns:p14="http://schemas.microsoft.com/office/powerpoint/2010/main" val="2767890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B28D-A13C-B2E2-EFE0-C65C37D4BA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5D049A-EEA6-9F58-B16B-015FB5BABD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95F24D-EC91-A9D4-CF9B-B63DCD3834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80C592-532F-4907-81BA-245F9D3871C1}"/>
              </a:ext>
            </a:extLst>
          </p:cNvPr>
          <p:cNvSpPr>
            <a:spLocks noGrp="1"/>
          </p:cNvSpPr>
          <p:nvPr>
            <p:ph type="dt" sz="half" idx="10"/>
          </p:nvPr>
        </p:nvSpPr>
        <p:spPr>
          <a:xfrm>
            <a:off x="838200" y="6356350"/>
            <a:ext cx="2743200" cy="365125"/>
          </a:xfrm>
          <a:prstGeom prst="rect">
            <a:avLst/>
          </a:prstGeom>
        </p:spPr>
        <p:txBody>
          <a:bodyPr/>
          <a:lstStyle/>
          <a:p>
            <a:fld id="{90E604F0-5252-4109-A206-29441A534234}" type="datetimeFigureOut">
              <a:rPr lang="en-US" smtClean="0"/>
              <a:t>12/29/2025</a:t>
            </a:fld>
            <a:endParaRPr lang="en-US"/>
          </a:p>
        </p:txBody>
      </p:sp>
      <p:sp>
        <p:nvSpPr>
          <p:cNvPr id="6" name="Footer Placeholder 5">
            <a:extLst>
              <a:ext uri="{FF2B5EF4-FFF2-40B4-BE49-F238E27FC236}">
                <a16:creationId xmlns:a16="http://schemas.microsoft.com/office/drawing/2014/main" id="{F827D36E-5517-B7AE-6002-9B940A410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59AC15-95DA-42BF-24E6-B5BC2AF07E59}"/>
              </a:ext>
            </a:extLst>
          </p:cNvPr>
          <p:cNvSpPr>
            <a:spLocks noGrp="1"/>
          </p:cNvSpPr>
          <p:nvPr>
            <p:ph type="sldNum" sz="quarter" idx="12"/>
          </p:nvPr>
        </p:nvSpPr>
        <p:spPr>
          <a:xfrm>
            <a:off x="8610600" y="6356350"/>
            <a:ext cx="2743200" cy="365125"/>
          </a:xfrm>
          <a:prstGeom prst="rect">
            <a:avLst/>
          </a:prstGeom>
        </p:spPr>
        <p:txBody>
          <a:bodyPr/>
          <a:lstStyle/>
          <a:p>
            <a:fld id="{168685D4-1193-4DEF-8E8F-F074659AABF9}" type="slidenum">
              <a:rPr lang="en-US" smtClean="0"/>
              <a:t>‹#›</a:t>
            </a:fld>
            <a:endParaRPr lang="en-US"/>
          </a:p>
        </p:txBody>
      </p:sp>
    </p:spTree>
    <p:extLst>
      <p:ext uri="{BB962C8B-B14F-4D97-AF65-F5344CB8AC3E}">
        <p14:creationId xmlns:p14="http://schemas.microsoft.com/office/powerpoint/2010/main" val="813866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9B38F-4D17-60EA-EDA1-90D3F7DDE2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4B597F-F1F3-7D14-A0D9-A12F3B4BB7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BA574F-DE67-047B-01CC-D29C02FC9694}"/>
              </a:ext>
            </a:extLst>
          </p:cNvPr>
          <p:cNvSpPr>
            <a:spLocks noGrp="1"/>
          </p:cNvSpPr>
          <p:nvPr>
            <p:ph type="dt" sz="half" idx="10"/>
          </p:nvPr>
        </p:nvSpPr>
        <p:spPr>
          <a:xfrm>
            <a:off x="838200" y="6356350"/>
            <a:ext cx="2743200" cy="365125"/>
          </a:xfrm>
          <a:prstGeom prst="rect">
            <a:avLst/>
          </a:prstGeom>
        </p:spPr>
        <p:txBody>
          <a:bodyPr/>
          <a:lstStyle/>
          <a:p>
            <a:fld id="{90E604F0-5252-4109-A206-29441A534234}" type="datetimeFigureOut">
              <a:rPr lang="en-US" smtClean="0"/>
              <a:t>12/29/2025</a:t>
            </a:fld>
            <a:endParaRPr lang="en-US"/>
          </a:p>
        </p:txBody>
      </p:sp>
      <p:sp>
        <p:nvSpPr>
          <p:cNvPr id="5" name="Footer Placeholder 4">
            <a:extLst>
              <a:ext uri="{FF2B5EF4-FFF2-40B4-BE49-F238E27FC236}">
                <a16:creationId xmlns:a16="http://schemas.microsoft.com/office/drawing/2014/main" id="{EAD8CD1F-4259-F965-E998-3EC7DC187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825C42-86DE-BD9B-2914-831DD14EB80F}"/>
              </a:ext>
            </a:extLst>
          </p:cNvPr>
          <p:cNvSpPr>
            <a:spLocks noGrp="1"/>
          </p:cNvSpPr>
          <p:nvPr>
            <p:ph type="sldNum" sz="quarter" idx="12"/>
          </p:nvPr>
        </p:nvSpPr>
        <p:spPr>
          <a:xfrm>
            <a:off x="8610600" y="6356350"/>
            <a:ext cx="2743200" cy="365125"/>
          </a:xfrm>
          <a:prstGeom prst="rect">
            <a:avLst/>
          </a:prstGeom>
        </p:spPr>
        <p:txBody>
          <a:bodyPr/>
          <a:lstStyle/>
          <a:p>
            <a:fld id="{168685D4-1193-4DEF-8E8F-F074659AABF9}" type="slidenum">
              <a:rPr lang="en-US" smtClean="0"/>
              <a:t>‹#›</a:t>
            </a:fld>
            <a:endParaRPr lang="en-US"/>
          </a:p>
        </p:txBody>
      </p:sp>
    </p:spTree>
    <p:extLst>
      <p:ext uri="{BB962C8B-B14F-4D97-AF65-F5344CB8AC3E}">
        <p14:creationId xmlns:p14="http://schemas.microsoft.com/office/powerpoint/2010/main" val="944596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04B9F5-50AC-AFC4-58BF-0CF5B50A0B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AF2C3B-B9C9-6B87-21EC-BCA6E624E9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6CAA1D-4620-35D8-B58E-2475A5E9E328}"/>
              </a:ext>
            </a:extLst>
          </p:cNvPr>
          <p:cNvSpPr>
            <a:spLocks noGrp="1"/>
          </p:cNvSpPr>
          <p:nvPr>
            <p:ph type="dt" sz="half" idx="10"/>
          </p:nvPr>
        </p:nvSpPr>
        <p:spPr>
          <a:xfrm>
            <a:off x="838200" y="6356350"/>
            <a:ext cx="2743200" cy="365125"/>
          </a:xfrm>
          <a:prstGeom prst="rect">
            <a:avLst/>
          </a:prstGeom>
        </p:spPr>
        <p:txBody>
          <a:bodyPr/>
          <a:lstStyle/>
          <a:p>
            <a:fld id="{90E604F0-5252-4109-A206-29441A534234}" type="datetimeFigureOut">
              <a:rPr lang="en-US" smtClean="0"/>
              <a:t>12/29/2025</a:t>
            </a:fld>
            <a:endParaRPr lang="en-US"/>
          </a:p>
        </p:txBody>
      </p:sp>
      <p:sp>
        <p:nvSpPr>
          <p:cNvPr id="5" name="Footer Placeholder 4">
            <a:extLst>
              <a:ext uri="{FF2B5EF4-FFF2-40B4-BE49-F238E27FC236}">
                <a16:creationId xmlns:a16="http://schemas.microsoft.com/office/drawing/2014/main" id="{76A8E680-71C6-201D-6405-96CC173FA3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7E3846-0D14-5E5B-D24B-3545F969A694}"/>
              </a:ext>
            </a:extLst>
          </p:cNvPr>
          <p:cNvSpPr>
            <a:spLocks noGrp="1"/>
          </p:cNvSpPr>
          <p:nvPr>
            <p:ph type="sldNum" sz="quarter" idx="12"/>
          </p:nvPr>
        </p:nvSpPr>
        <p:spPr>
          <a:xfrm>
            <a:off x="8610600" y="6356350"/>
            <a:ext cx="2743200" cy="365125"/>
          </a:xfrm>
          <a:prstGeom prst="rect">
            <a:avLst/>
          </a:prstGeom>
        </p:spPr>
        <p:txBody>
          <a:bodyPr/>
          <a:lstStyle/>
          <a:p>
            <a:fld id="{168685D4-1193-4DEF-8E8F-F074659AABF9}" type="slidenum">
              <a:rPr lang="en-US" smtClean="0"/>
              <a:t>‹#›</a:t>
            </a:fld>
            <a:endParaRPr lang="en-US"/>
          </a:p>
        </p:txBody>
      </p:sp>
    </p:spTree>
    <p:extLst>
      <p:ext uri="{BB962C8B-B14F-4D97-AF65-F5344CB8AC3E}">
        <p14:creationId xmlns:p14="http://schemas.microsoft.com/office/powerpoint/2010/main" val="3833138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CA4683-75B4-E501-20CA-8F9579BA52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33E91B7-B918-D7D7-C021-A40214B3BD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DDCD6A-FA1B-2202-5CE9-A5F3194D3B76}"/>
              </a:ext>
            </a:extLst>
          </p:cNvPr>
          <p:cNvSpPr>
            <a:spLocks noGrp="1"/>
          </p:cNvSpPr>
          <p:nvPr>
            <p:ph type="ftr" sz="quarter" idx="3"/>
          </p:nvPr>
        </p:nvSpPr>
        <p:spPr>
          <a:xfrm>
            <a:off x="34925" y="6356350"/>
            <a:ext cx="12122150" cy="501650"/>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dirty="0"/>
              <a:t>AWS AI Practitioner - Intro</a:t>
            </a:r>
          </a:p>
        </p:txBody>
      </p:sp>
      <p:sp>
        <p:nvSpPr>
          <p:cNvPr id="8" name="TextBox 7">
            <a:extLst>
              <a:ext uri="{FF2B5EF4-FFF2-40B4-BE49-F238E27FC236}">
                <a16:creationId xmlns:a16="http://schemas.microsoft.com/office/drawing/2014/main" id="{12D2AE75-2E7F-0CB1-303D-0C7A9ED5E76B}"/>
              </a:ext>
            </a:extLst>
          </p:cNvPr>
          <p:cNvSpPr txBox="1"/>
          <p:nvPr userDrawn="1">
            <p:extLst>
              <p:ext uri="{1162E1C5-73C7-4A58-AE30-91384D911F3F}">
                <p184:classification xmlns:p184="http://schemas.microsoft.com/office/powerpoint/2018/4/main" val="ftr"/>
              </p:ext>
            </p:extLst>
          </p:nvPr>
        </p:nvSpPr>
        <p:spPr>
          <a:xfrm>
            <a:off x="11818938" y="6642100"/>
            <a:ext cx="338137" cy="152400"/>
          </a:xfrm>
          <a:prstGeom prst="rect">
            <a:avLst/>
          </a:prstGeom>
        </p:spPr>
        <p:txBody>
          <a:bodyPr horzOverflow="overflow" lIns="0" tIns="0" rIns="0" bIns="0">
            <a:spAutoFit/>
          </a:bodyPr>
          <a:lstStyle/>
          <a:p>
            <a:pPr algn="l"/>
            <a:r>
              <a:rPr lang="en-US" sz="1000">
                <a:solidFill>
                  <a:srgbClr val="FF0000"/>
                </a:solidFill>
                <a:latin typeface="Calibri" panose="020F0502020204030204" pitchFamily="34" charset="0"/>
                <a:cs typeface="Calibri" panose="020F0502020204030204" pitchFamily="34" charset="0"/>
              </a:rPr>
              <a:t>Public</a:t>
            </a:r>
          </a:p>
        </p:txBody>
      </p:sp>
      <p:sp>
        <p:nvSpPr>
          <p:cNvPr id="9" name="TextBox 8">
            <a:extLst>
              <a:ext uri="{FF2B5EF4-FFF2-40B4-BE49-F238E27FC236}">
                <a16:creationId xmlns:a16="http://schemas.microsoft.com/office/drawing/2014/main" id="{49FCE7DB-FBC4-AD63-B3F1-E0125AF5564B}"/>
              </a:ext>
            </a:extLst>
          </p:cNvPr>
          <p:cNvSpPr txBox="1"/>
          <p:nvPr userDrawn="1"/>
        </p:nvSpPr>
        <p:spPr>
          <a:xfrm>
            <a:off x="5646420" y="2980944"/>
            <a:ext cx="914400" cy="369332"/>
          </a:xfrm>
          <a:prstGeom prst="rect">
            <a:avLst/>
          </a:prstGeom>
          <a:noFill/>
        </p:spPr>
        <p:txBody>
          <a:bodyPr wrap="square" rtlCol="0">
            <a:spAutoFit/>
          </a:bodyPr>
          <a:lstStyle/>
          <a:p>
            <a:r>
              <a:rPr lang="en-US" dirty="0"/>
              <a:t>Lalita</a:t>
            </a:r>
          </a:p>
        </p:txBody>
      </p:sp>
      <p:sp>
        <p:nvSpPr>
          <p:cNvPr id="10" name="Rectangle 9">
            <a:extLst>
              <a:ext uri="{FF2B5EF4-FFF2-40B4-BE49-F238E27FC236}">
                <a16:creationId xmlns:a16="http://schemas.microsoft.com/office/drawing/2014/main" id="{E1B5E782-BDFD-C2E7-FB4C-900C254E0759}"/>
              </a:ext>
            </a:extLst>
          </p:cNvPr>
          <p:cNvSpPr/>
          <p:nvPr userDrawn="1"/>
        </p:nvSpPr>
        <p:spPr>
          <a:xfrm>
            <a:off x="0" y="6369050"/>
            <a:ext cx="12192000" cy="45720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400" dirty="0">
                <a:latin typeface="Verdana"/>
                <a:cs typeface="Verdana"/>
              </a:rPr>
              <a:t>AWS AI Practitioner - Intro</a:t>
            </a:r>
          </a:p>
        </p:txBody>
      </p:sp>
    </p:spTree>
    <p:extLst>
      <p:ext uri="{BB962C8B-B14F-4D97-AF65-F5344CB8AC3E}">
        <p14:creationId xmlns:p14="http://schemas.microsoft.com/office/powerpoint/2010/main" val="2512423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3111C3A-A703-3389-A2DB-4675B828EA81}"/>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AWS AI Practitioner</a:t>
            </a:r>
          </a:p>
        </p:txBody>
      </p:sp>
      <p:sp>
        <p:nvSpPr>
          <p:cNvPr id="3" name="Subtitle 2">
            <a:extLst>
              <a:ext uri="{FF2B5EF4-FFF2-40B4-BE49-F238E27FC236}">
                <a16:creationId xmlns:a16="http://schemas.microsoft.com/office/drawing/2014/main" id="{7D1318AF-5D86-00BD-D5D4-EABC50712497}"/>
              </a:ext>
            </a:extLst>
          </p:cNvPr>
          <p:cNvSpPr>
            <a:spLocks noGrp="1"/>
          </p:cNvSpPr>
          <p:nvPr>
            <p:ph type="subTitle" idx="1"/>
          </p:nvPr>
        </p:nvSpPr>
        <p:spPr>
          <a:xfrm>
            <a:off x="1350682" y="4870824"/>
            <a:ext cx="10005951" cy="1458258"/>
          </a:xfrm>
        </p:spPr>
        <p:txBody>
          <a:bodyPr anchor="ctr">
            <a:normAutofit/>
          </a:bodyPr>
          <a:lstStyle/>
          <a:p>
            <a:pPr algn="l"/>
            <a:r>
              <a:rPr lang="en-US" dirty="0"/>
              <a:t>Lalitadevi Pila</a:t>
            </a:r>
          </a:p>
        </p:txBody>
      </p:sp>
    </p:spTree>
    <p:extLst>
      <p:ext uri="{BB962C8B-B14F-4D97-AF65-F5344CB8AC3E}">
        <p14:creationId xmlns:p14="http://schemas.microsoft.com/office/powerpoint/2010/main" val="135131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110FA3-279A-6CAA-C4D5-1252895BF448}"/>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Content</a:t>
            </a:r>
          </a:p>
        </p:txBody>
      </p:sp>
      <p:sp>
        <p:nvSpPr>
          <p:cNvPr id="3" name="Content Placeholder 2">
            <a:extLst>
              <a:ext uri="{FF2B5EF4-FFF2-40B4-BE49-F238E27FC236}">
                <a16:creationId xmlns:a16="http://schemas.microsoft.com/office/drawing/2014/main" id="{FD6D5E6C-4A9F-DBBC-36C1-3691E051FBEB}"/>
              </a:ext>
            </a:extLst>
          </p:cNvPr>
          <p:cNvSpPr>
            <a:spLocks noGrp="1"/>
          </p:cNvSpPr>
          <p:nvPr>
            <p:ph idx="1"/>
          </p:nvPr>
        </p:nvSpPr>
        <p:spPr>
          <a:xfrm>
            <a:off x="4810259" y="649480"/>
            <a:ext cx="6555347" cy="5546047"/>
          </a:xfrm>
        </p:spPr>
        <p:txBody>
          <a:bodyPr anchor="ctr">
            <a:normAutofit/>
          </a:bodyPr>
          <a:lstStyle/>
          <a:p>
            <a:r>
              <a:rPr lang="en-US" sz="2000" dirty="0"/>
              <a:t>Fundamentals of AI</a:t>
            </a:r>
          </a:p>
          <a:p>
            <a:pPr lvl="1"/>
            <a:r>
              <a:rPr lang="en-US" sz="2000" dirty="0"/>
              <a:t>Artificial Intelligence</a:t>
            </a:r>
          </a:p>
          <a:p>
            <a:pPr lvl="1"/>
            <a:r>
              <a:rPr lang="en-US" sz="2000" dirty="0"/>
              <a:t>Machine learning</a:t>
            </a:r>
          </a:p>
          <a:p>
            <a:pPr lvl="1"/>
            <a:r>
              <a:rPr lang="en-US" sz="2000" dirty="0"/>
              <a:t>Deep learning</a:t>
            </a:r>
          </a:p>
          <a:p>
            <a:pPr lvl="1"/>
            <a:r>
              <a:rPr lang="en-US" sz="2000" dirty="0"/>
              <a:t>Gen AI</a:t>
            </a:r>
          </a:p>
          <a:p>
            <a:r>
              <a:rPr lang="en-US" sz="2000" dirty="0"/>
              <a:t>AWS Infrastructure and Technologies for AI/ML</a:t>
            </a:r>
          </a:p>
          <a:p>
            <a:r>
              <a:rPr lang="en-US" sz="2000" dirty="0"/>
              <a:t>Advantages of AWS AI Services</a:t>
            </a:r>
          </a:p>
          <a:p>
            <a:r>
              <a:rPr lang="en-US" sz="2000" dirty="0"/>
              <a:t>Cost consideration</a:t>
            </a:r>
          </a:p>
          <a:p>
            <a:r>
              <a:rPr lang="en-US" sz="2000" dirty="0"/>
              <a:t>Use cases</a:t>
            </a:r>
          </a:p>
        </p:txBody>
      </p:sp>
    </p:spTree>
    <p:extLst>
      <p:ext uri="{BB962C8B-B14F-4D97-AF65-F5344CB8AC3E}">
        <p14:creationId xmlns:p14="http://schemas.microsoft.com/office/powerpoint/2010/main" val="1869209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8CD363-8F10-C01B-F142-B331BCFD238A}"/>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Artificial Intelligence</a:t>
            </a:r>
          </a:p>
        </p:txBody>
      </p:sp>
      <p:sp>
        <p:nvSpPr>
          <p:cNvPr id="3" name="Content Placeholder 2">
            <a:extLst>
              <a:ext uri="{FF2B5EF4-FFF2-40B4-BE49-F238E27FC236}">
                <a16:creationId xmlns:a16="http://schemas.microsoft.com/office/drawing/2014/main" id="{1893E612-58A5-3C94-299F-7CBAD5325545}"/>
              </a:ext>
            </a:extLst>
          </p:cNvPr>
          <p:cNvSpPr>
            <a:spLocks noGrp="1"/>
          </p:cNvSpPr>
          <p:nvPr>
            <p:ph idx="1"/>
          </p:nvPr>
        </p:nvSpPr>
        <p:spPr>
          <a:xfrm>
            <a:off x="1371599" y="2318197"/>
            <a:ext cx="9724031" cy="3683358"/>
          </a:xfrm>
        </p:spPr>
        <p:txBody>
          <a:bodyPr anchor="ctr">
            <a:normAutofit/>
          </a:bodyPr>
          <a:lstStyle/>
          <a:p>
            <a:r>
              <a:rPr lang="en-US" sz="2000" dirty="0"/>
              <a:t>Artificial Intelligence is a field of computer science dedicated to solving problems that we commonly associate with human intelligence.</a:t>
            </a:r>
          </a:p>
          <a:p>
            <a:r>
              <a:rPr lang="en-US" sz="2000" dirty="0">
                <a:effectLst/>
                <a:latin typeface="Calibri" panose="020F0502020204030204" pitchFamily="34" charset="0"/>
              </a:rPr>
              <a:t>Use cases of AI:</a:t>
            </a:r>
          </a:p>
          <a:p>
            <a:pPr marL="1028700" marR="0"/>
            <a:r>
              <a:rPr lang="en-US" sz="2000" dirty="0">
                <a:effectLst/>
                <a:latin typeface="Calibri" panose="020F0502020204030204" pitchFamily="34" charset="0"/>
              </a:rPr>
              <a:t>Computer vision</a:t>
            </a:r>
          </a:p>
          <a:p>
            <a:pPr marL="1028700" marR="0"/>
            <a:r>
              <a:rPr lang="en-US" sz="2000" dirty="0">
                <a:effectLst/>
                <a:latin typeface="Calibri" panose="020F0502020204030204" pitchFamily="34" charset="0"/>
              </a:rPr>
              <a:t>Facial recognition</a:t>
            </a:r>
          </a:p>
          <a:p>
            <a:pPr marL="1028700" marR="0"/>
            <a:r>
              <a:rPr lang="en-US" sz="2000" dirty="0">
                <a:effectLst/>
                <a:latin typeface="Calibri" panose="020F0502020204030204" pitchFamily="34" charset="0"/>
              </a:rPr>
              <a:t>Fraud detection</a:t>
            </a:r>
          </a:p>
          <a:p>
            <a:pPr marL="1028700" marR="0"/>
            <a:r>
              <a:rPr lang="en-US" sz="2000" dirty="0">
                <a:effectLst/>
                <a:latin typeface="Calibri" panose="020F0502020204030204" pitchFamily="34" charset="0"/>
              </a:rPr>
              <a:t>Intelligent document processing(IDP)</a:t>
            </a:r>
          </a:p>
          <a:p>
            <a:pPr marL="800100" marR="0" indent="0">
              <a:buNone/>
            </a:pPr>
            <a:endParaRPr lang="en-US" sz="2000" dirty="0">
              <a:effectLst/>
              <a:latin typeface="Calibri" panose="020F0502020204030204" pitchFamily="34" charset="0"/>
            </a:endParaRPr>
          </a:p>
          <a:p>
            <a:endParaRPr lang="en-US" sz="2000" dirty="0"/>
          </a:p>
        </p:txBody>
      </p:sp>
    </p:spTree>
    <p:extLst>
      <p:ext uri="{BB962C8B-B14F-4D97-AF65-F5344CB8AC3E}">
        <p14:creationId xmlns:p14="http://schemas.microsoft.com/office/powerpoint/2010/main" val="3694239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401E7CF-4270-6DAF-8C77-F3C11E07E756}"/>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Relation ship between AI and Gen AI</a:t>
            </a:r>
          </a:p>
        </p:txBody>
      </p:sp>
      <p:pic>
        <p:nvPicPr>
          <p:cNvPr id="9" name="Content Placeholder 8">
            <a:extLst>
              <a:ext uri="{FF2B5EF4-FFF2-40B4-BE49-F238E27FC236}">
                <a16:creationId xmlns:a16="http://schemas.microsoft.com/office/drawing/2014/main" id="{BCFBDDFD-C008-8316-CFEF-00DFFEF4E872}"/>
              </a:ext>
            </a:extLst>
          </p:cNvPr>
          <p:cNvPicPr>
            <a:picLocks noGrp="1" noChangeAspect="1"/>
          </p:cNvPicPr>
          <p:nvPr>
            <p:ph idx="1"/>
          </p:nvPr>
        </p:nvPicPr>
        <p:blipFill>
          <a:blip r:embed="rId3"/>
          <a:stretch>
            <a:fillRect/>
          </a:stretch>
        </p:blipFill>
        <p:spPr>
          <a:xfrm>
            <a:off x="4502428" y="694933"/>
            <a:ext cx="7225748" cy="5468133"/>
          </a:xfrm>
          <a:prstGeom prst="rect">
            <a:avLst/>
          </a:prstGeom>
        </p:spPr>
      </p:pic>
    </p:spTree>
    <p:extLst>
      <p:ext uri="{BB962C8B-B14F-4D97-AF65-F5344CB8AC3E}">
        <p14:creationId xmlns:p14="http://schemas.microsoft.com/office/powerpoint/2010/main" val="3358763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10;&#10;Description automatically generated">
            <a:extLst>
              <a:ext uri="{FF2B5EF4-FFF2-40B4-BE49-F238E27FC236}">
                <a16:creationId xmlns:a16="http://schemas.microsoft.com/office/drawing/2014/main" id="{28018EAF-053C-F63D-55AB-2F428BD1E08F}"/>
              </a:ext>
            </a:extLst>
          </p:cNvPr>
          <p:cNvPicPr>
            <a:picLocks noGrp="1" noChangeAspect="1"/>
          </p:cNvPicPr>
          <p:nvPr>
            <p:ph idx="1"/>
          </p:nvPr>
        </p:nvPicPr>
        <p:blipFill>
          <a:blip r:embed="rId3"/>
          <a:stretch>
            <a:fillRect/>
          </a:stretch>
        </p:blipFill>
        <p:spPr>
          <a:xfrm>
            <a:off x="457200" y="567309"/>
            <a:ext cx="11277600" cy="5723382"/>
          </a:xfrm>
          <a:prstGeom prst="rect">
            <a:avLst/>
          </a:prstGeom>
        </p:spPr>
      </p:pic>
    </p:spTree>
    <p:extLst>
      <p:ext uri="{BB962C8B-B14F-4D97-AF65-F5344CB8AC3E}">
        <p14:creationId xmlns:p14="http://schemas.microsoft.com/office/powerpoint/2010/main" val="2682228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AB65C1A-060C-705B-49FC-1CE84F8C40C5}"/>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How does AI Works</a:t>
            </a:r>
          </a:p>
        </p:txBody>
      </p:sp>
      <p:pic>
        <p:nvPicPr>
          <p:cNvPr id="6" name="Content Placeholder 5">
            <a:extLst>
              <a:ext uri="{FF2B5EF4-FFF2-40B4-BE49-F238E27FC236}">
                <a16:creationId xmlns:a16="http://schemas.microsoft.com/office/drawing/2014/main" id="{3D39A7B3-AD74-0A3A-632A-941B0B897349}"/>
              </a:ext>
            </a:extLst>
          </p:cNvPr>
          <p:cNvPicPr>
            <a:picLocks noGrp="1" noChangeAspect="1"/>
          </p:cNvPicPr>
          <p:nvPr>
            <p:ph idx="1"/>
          </p:nvPr>
        </p:nvPicPr>
        <p:blipFill>
          <a:blip r:embed="rId3"/>
          <a:stretch>
            <a:fillRect/>
          </a:stretch>
        </p:blipFill>
        <p:spPr>
          <a:xfrm>
            <a:off x="4502428" y="1758046"/>
            <a:ext cx="7225748" cy="3341908"/>
          </a:xfrm>
          <a:prstGeom prst="rect">
            <a:avLst/>
          </a:prstGeom>
        </p:spPr>
      </p:pic>
    </p:spTree>
    <p:extLst>
      <p:ext uri="{BB962C8B-B14F-4D97-AF65-F5344CB8AC3E}">
        <p14:creationId xmlns:p14="http://schemas.microsoft.com/office/powerpoint/2010/main" val="3848990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Freeform: Shape 6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2" name="Rectangle 7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5F4A5B-187E-19C6-E79F-7F258BA8732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Machine Learning</a:t>
            </a:r>
          </a:p>
        </p:txBody>
      </p:sp>
      <p:sp>
        <p:nvSpPr>
          <p:cNvPr id="3" name="Content Placeholder 2">
            <a:extLst>
              <a:ext uri="{FF2B5EF4-FFF2-40B4-BE49-F238E27FC236}">
                <a16:creationId xmlns:a16="http://schemas.microsoft.com/office/drawing/2014/main" id="{8AFCB4B5-DF92-4E37-CDD2-5704C006CF04}"/>
              </a:ext>
            </a:extLst>
          </p:cNvPr>
          <p:cNvSpPr>
            <a:spLocks noGrp="1"/>
          </p:cNvSpPr>
          <p:nvPr>
            <p:ph idx="1"/>
          </p:nvPr>
        </p:nvSpPr>
        <p:spPr>
          <a:xfrm>
            <a:off x="4581727" y="649480"/>
            <a:ext cx="3025303" cy="5546047"/>
          </a:xfrm>
        </p:spPr>
        <p:txBody>
          <a:bodyPr anchor="ctr">
            <a:normAutofit/>
          </a:bodyPr>
          <a:lstStyle/>
          <a:p>
            <a:r>
              <a:rPr lang="en-US" sz="2000" b="0" i="0" dirty="0">
                <a:effectLst/>
                <a:latin typeface="Ember Display"/>
              </a:rPr>
              <a:t>Building a machine learning model involves</a:t>
            </a:r>
            <a:endParaRPr lang="en-US" sz="2000" dirty="0">
              <a:latin typeface="Ember Display"/>
            </a:endParaRPr>
          </a:p>
          <a:p>
            <a:pPr marL="0" indent="0">
              <a:buNone/>
            </a:pPr>
            <a:endParaRPr lang="en-US" sz="2000" dirty="0"/>
          </a:p>
        </p:txBody>
      </p:sp>
      <p:grpSp>
        <p:nvGrpSpPr>
          <p:cNvPr id="42" name="Group 41">
            <a:extLst>
              <a:ext uri="{FF2B5EF4-FFF2-40B4-BE49-F238E27FC236}">
                <a16:creationId xmlns:a16="http://schemas.microsoft.com/office/drawing/2014/main" id="{3F963F93-B932-1147-CF33-ECC5DE1C22FE}"/>
              </a:ext>
            </a:extLst>
          </p:cNvPr>
          <p:cNvGrpSpPr/>
          <p:nvPr/>
        </p:nvGrpSpPr>
        <p:grpSpPr>
          <a:xfrm>
            <a:off x="8109501" y="3121356"/>
            <a:ext cx="3615775" cy="627166"/>
            <a:chOff x="5111784" y="4345878"/>
            <a:chExt cx="5798933" cy="1005840"/>
          </a:xfrm>
        </p:grpSpPr>
        <p:sp>
          <p:nvSpPr>
            <p:cNvPr id="11" name="Rectangle 10">
              <a:extLst>
                <a:ext uri="{FF2B5EF4-FFF2-40B4-BE49-F238E27FC236}">
                  <a16:creationId xmlns:a16="http://schemas.microsoft.com/office/drawing/2014/main" id="{26E81156-DE0D-67BD-ED70-2180C05C70FC}"/>
                </a:ext>
              </a:extLst>
            </p:cNvPr>
            <p:cNvSpPr/>
            <p:nvPr/>
          </p:nvSpPr>
          <p:spPr>
            <a:xfrm>
              <a:off x="5111784" y="4345878"/>
              <a:ext cx="1416221" cy="1005840"/>
            </a:xfrm>
            <a:prstGeom prst="rect">
              <a:avLst/>
            </a:prstGeom>
            <a:effectLst>
              <a:glow rad="63500">
                <a:schemeClr val="accent6">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ctr" defTabSz="558790">
                <a:spcAft>
                  <a:spcPts val="582"/>
                </a:spcAft>
              </a:pPr>
              <a:r>
                <a:rPr lang="en-US" sz="1100" kern="1200">
                  <a:solidFill>
                    <a:schemeClr val="lt1"/>
                  </a:solidFill>
                  <a:latin typeface="+mn-lt"/>
                  <a:ea typeface="+mn-ea"/>
                  <a:cs typeface="+mn-cs"/>
                </a:rPr>
                <a:t>Training Data</a:t>
              </a:r>
              <a:endParaRPr lang="en-US"/>
            </a:p>
          </p:txBody>
        </p:sp>
        <p:sp>
          <p:nvSpPr>
            <p:cNvPr id="13" name="Rectangle 12">
              <a:extLst>
                <a:ext uri="{FF2B5EF4-FFF2-40B4-BE49-F238E27FC236}">
                  <a16:creationId xmlns:a16="http://schemas.microsoft.com/office/drawing/2014/main" id="{E75FC330-78D9-F6AB-70FE-F73F94B5E885}"/>
                </a:ext>
              </a:extLst>
            </p:cNvPr>
            <p:cNvSpPr/>
            <p:nvPr/>
          </p:nvSpPr>
          <p:spPr>
            <a:xfrm>
              <a:off x="7476792" y="4345878"/>
              <a:ext cx="1176465" cy="1005840"/>
            </a:xfrm>
            <a:prstGeom prst="rect">
              <a:avLst/>
            </a:prstGeom>
            <a:effectLst>
              <a:glow rad="63500">
                <a:schemeClr val="accent6">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ctr" defTabSz="558790">
                <a:spcAft>
                  <a:spcPts val="582"/>
                </a:spcAft>
              </a:pPr>
              <a:r>
                <a:rPr lang="en-US" sz="1100" kern="1200">
                  <a:solidFill>
                    <a:schemeClr val="lt1"/>
                  </a:solidFill>
                  <a:latin typeface="+mn-lt"/>
                  <a:ea typeface="+mn-ea"/>
                  <a:cs typeface="+mn-cs"/>
                </a:rPr>
                <a:t>ML Algorithm</a:t>
              </a:r>
              <a:endParaRPr lang="en-US"/>
            </a:p>
          </p:txBody>
        </p:sp>
        <p:sp>
          <p:nvSpPr>
            <p:cNvPr id="15" name="Rectangle 14">
              <a:extLst>
                <a:ext uri="{FF2B5EF4-FFF2-40B4-BE49-F238E27FC236}">
                  <a16:creationId xmlns:a16="http://schemas.microsoft.com/office/drawing/2014/main" id="{C82BE34B-F1FC-0430-C5CC-7F7FCDE8FF0F}"/>
                </a:ext>
              </a:extLst>
            </p:cNvPr>
            <p:cNvSpPr/>
            <p:nvPr/>
          </p:nvSpPr>
          <p:spPr>
            <a:xfrm>
              <a:off x="9602433" y="4345878"/>
              <a:ext cx="1308284" cy="1005840"/>
            </a:xfrm>
            <a:prstGeom prst="rect">
              <a:avLst/>
            </a:prstGeom>
            <a:effectLst>
              <a:glow rad="63500">
                <a:schemeClr val="accent6">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ctr" defTabSz="558790">
                <a:spcAft>
                  <a:spcPts val="582"/>
                </a:spcAft>
              </a:pPr>
              <a:r>
                <a:rPr lang="en-US" sz="1067" kern="1200">
                  <a:solidFill>
                    <a:schemeClr val="lt1"/>
                  </a:solidFill>
                  <a:latin typeface="+mn-lt"/>
                  <a:ea typeface="+mn-ea"/>
                  <a:cs typeface="+mn-cs"/>
                </a:rPr>
                <a:t>Inference</a:t>
              </a:r>
              <a:endParaRPr lang="en-US" sz="1100"/>
            </a:p>
          </p:txBody>
        </p:sp>
        <p:cxnSp>
          <p:nvCxnSpPr>
            <p:cNvPr id="17" name="Straight Arrow Connector 16">
              <a:extLst>
                <a:ext uri="{FF2B5EF4-FFF2-40B4-BE49-F238E27FC236}">
                  <a16:creationId xmlns:a16="http://schemas.microsoft.com/office/drawing/2014/main" id="{506AA823-66DE-6687-88F4-695FC6CC921B}"/>
                </a:ext>
              </a:extLst>
            </p:cNvPr>
            <p:cNvCxnSpPr>
              <a:cxnSpLocks/>
              <a:stCxn id="11" idx="3"/>
              <a:endCxn id="13" idx="1"/>
            </p:cNvCxnSpPr>
            <p:nvPr/>
          </p:nvCxnSpPr>
          <p:spPr>
            <a:xfrm>
              <a:off x="6528005" y="4848798"/>
              <a:ext cx="9487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5D8B45B1-33FA-3434-99AC-93CFEF22C05B}"/>
                </a:ext>
              </a:extLst>
            </p:cNvPr>
            <p:cNvCxnSpPr>
              <a:cxnSpLocks/>
              <a:stCxn id="13" idx="3"/>
              <a:endCxn id="15" idx="1"/>
            </p:cNvCxnSpPr>
            <p:nvPr/>
          </p:nvCxnSpPr>
          <p:spPr>
            <a:xfrm>
              <a:off x="8653257" y="4848798"/>
              <a:ext cx="949176" cy="0"/>
            </a:xfrm>
            <a:prstGeom prst="straightConnector1">
              <a:avLst/>
            </a:prstGeom>
            <a:ln>
              <a:tailEnd type="triangle"/>
            </a:ln>
            <a:effectLst>
              <a:glow rad="63500">
                <a:schemeClr val="accent6">
                  <a:satMod val="175000"/>
                  <a:alpha val="40000"/>
                </a:schemeClr>
              </a:glow>
            </a:effectLst>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083198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CB8ED-C9FB-64E3-D204-798AE76AE2D6}"/>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Training Data</a:t>
            </a:r>
          </a:p>
        </p:txBody>
      </p:sp>
      <p:sp>
        <p:nvSpPr>
          <p:cNvPr id="3" name="Content Placeholder 2">
            <a:extLst>
              <a:ext uri="{FF2B5EF4-FFF2-40B4-BE49-F238E27FC236}">
                <a16:creationId xmlns:a16="http://schemas.microsoft.com/office/drawing/2014/main" id="{11CD3336-5A33-2562-0069-D8F134598508}"/>
              </a:ext>
            </a:extLst>
          </p:cNvPr>
          <p:cNvSpPr>
            <a:spLocks noGrp="1"/>
          </p:cNvSpPr>
          <p:nvPr>
            <p:ph idx="1"/>
          </p:nvPr>
        </p:nvSpPr>
        <p:spPr>
          <a:xfrm>
            <a:off x="4810259" y="649480"/>
            <a:ext cx="6555347" cy="5546047"/>
          </a:xfrm>
        </p:spPr>
        <p:txBody>
          <a:bodyPr anchor="ctr">
            <a:normAutofit/>
          </a:bodyPr>
          <a:lstStyle/>
          <a:p>
            <a:pPr fontAlgn="base"/>
            <a:r>
              <a:rPr lang="en-US" sz="1800" b="0" i="0" dirty="0">
                <a:solidFill>
                  <a:srgbClr val="000000"/>
                </a:solidFill>
                <a:effectLst/>
                <a:latin typeface="Ember Display"/>
              </a:rPr>
              <a:t>There are a several different types of data used in training an ML model.</a:t>
            </a:r>
            <a:r>
              <a:rPr lang="en-US" sz="1400" b="0" i="0" dirty="0">
                <a:solidFill>
                  <a:srgbClr val="000000"/>
                </a:solidFill>
                <a:effectLst/>
                <a:latin typeface="Ember Display"/>
              </a:rPr>
              <a:t> </a:t>
            </a:r>
          </a:p>
          <a:p>
            <a:pPr lvl="1" fontAlgn="base"/>
            <a:r>
              <a:rPr lang="en-US" sz="1500" b="1" dirty="0"/>
              <a:t>Labeled</a:t>
            </a:r>
            <a:r>
              <a:rPr lang="en-US" sz="1500" dirty="0"/>
              <a:t>: </a:t>
            </a:r>
            <a:r>
              <a:rPr lang="en-US" sz="1500" b="0" i="0" dirty="0">
                <a:effectLst/>
                <a:latin typeface="Ember Display"/>
              </a:rPr>
              <a:t>Labeled data is a dataset where each instance is accompanied by a label or target variable.</a:t>
            </a:r>
          </a:p>
          <a:p>
            <a:pPr lvl="2" fontAlgn="base"/>
            <a:r>
              <a:rPr lang="en-US" sz="1500" b="1" i="0" dirty="0">
                <a:effectLst/>
                <a:latin typeface="inherit"/>
              </a:rPr>
              <a:t>Example:</a:t>
            </a:r>
            <a:r>
              <a:rPr lang="en-US" sz="1500" b="0" i="0" dirty="0">
                <a:effectLst/>
                <a:latin typeface="Ember Display"/>
              </a:rPr>
              <a:t> labeled data would consist of images along with their corresponding class labels (for example, </a:t>
            </a:r>
            <a:r>
              <a:rPr lang="en-US" sz="1500" b="0" i="1" dirty="0">
                <a:effectLst/>
                <a:latin typeface="inherit"/>
              </a:rPr>
              <a:t>cat</a:t>
            </a:r>
            <a:r>
              <a:rPr lang="en-US" sz="1500" b="0" i="0" dirty="0">
                <a:effectLst/>
                <a:latin typeface="Ember Display"/>
              </a:rPr>
              <a:t>, </a:t>
            </a:r>
            <a:r>
              <a:rPr lang="en-US" sz="1500" b="0" i="1" dirty="0">
                <a:effectLst/>
                <a:latin typeface="inherit"/>
              </a:rPr>
              <a:t>dog</a:t>
            </a:r>
            <a:r>
              <a:rPr lang="en-US" sz="1500" b="0" i="0" dirty="0">
                <a:effectLst/>
                <a:latin typeface="Ember Display"/>
              </a:rPr>
              <a:t>, </a:t>
            </a:r>
            <a:r>
              <a:rPr lang="en-US" sz="1500" b="0" i="1" dirty="0">
                <a:effectLst/>
                <a:latin typeface="inherit"/>
              </a:rPr>
              <a:t>car</a:t>
            </a:r>
            <a:r>
              <a:rPr lang="en-US" sz="1500" b="0" i="0" dirty="0">
                <a:effectLst/>
                <a:latin typeface="Ember Display"/>
              </a:rPr>
              <a:t>). </a:t>
            </a:r>
          </a:p>
          <a:p>
            <a:pPr lvl="1" fontAlgn="base">
              <a:lnSpc>
                <a:spcPct val="100000"/>
              </a:lnSpc>
            </a:pPr>
            <a:r>
              <a:rPr lang="en-US" sz="1500" b="1" dirty="0"/>
              <a:t>Unlabeled: </a:t>
            </a:r>
            <a:r>
              <a:rPr lang="en-US" sz="1500" dirty="0"/>
              <a:t>Unlabeled data is a dataset where the instances do not have any associated labels or target variables</a:t>
            </a:r>
          </a:p>
          <a:p>
            <a:pPr lvl="2" fontAlgn="base"/>
            <a:r>
              <a:rPr lang="en-US" sz="1700" b="1" i="0" dirty="0">
                <a:effectLst/>
                <a:latin typeface="inherit"/>
              </a:rPr>
              <a:t>Example:</a:t>
            </a:r>
            <a:r>
              <a:rPr lang="en-US" sz="1700" b="0" i="0" dirty="0">
                <a:effectLst/>
                <a:latin typeface="Ember Display"/>
              </a:rPr>
              <a:t> </a:t>
            </a:r>
            <a:r>
              <a:rPr lang="en-US" sz="1500" dirty="0">
                <a:latin typeface="Ember Display"/>
              </a:rPr>
              <a:t>A collection of images without any labels or annotations</a:t>
            </a:r>
          </a:p>
          <a:p>
            <a:pPr marL="228600" lvl="1" fontAlgn="base">
              <a:lnSpc>
                <a:spcPct val="100000"/>
              </a:lnSpc>
              <a:spcBef>
                <a:spcPts val="1000"/>
              </a:spcBef>
            </a:pPr>
            <a:r>
              <a:rPr lang="en-US" sz="1800" b="1" dirty="0"/>
              <a:t>Structure Data</a:t>
            </a:r>
            <a:r>
              <a:rPr lang="en-US" sz="1800" dirty="0"/>
              <a:t>: Is refers to data that is organized and formatted in a predefined manner. The following are types of structured data.</a:t>
            </a:r>
          </a:p>
          <a:p>
            <a:pPr lvl="1" fontAlgn="base"/>
            <a:r>
              <a:rPr lang="en-US" sz="1800" dirty="0"/>
              <a:t>Tabular data</a:t>
            </a:r>
          </a:p>
          <a:p>
            <a:pPr lvl="1" fontAlgn="base"/>
            <a:r>
              <a:rPr lang="en-US" sz="1800" dirty="0"/>
              <a:t>Time-series data</a:t>
            </a:r>
            <a:endParaRPr lang="en-US" sz="1800" b="0" i="0" dirty="0">
              <a:effectLst/>
              <a:latin typeface="Ember Display"/>
            </a:endParaRPr>
          </a:p>
          <a:p>
            <a:pPr fontAlgn="base"/>
            <a:r>
              <a:rPr lang="en-US" sz="1800" b="1" i="0" dirty="0">
                <a:effectLst/>
                <a:latin typeface="Ember Display"/>
              </a:rPr>
              <a:t>Unstructured data: </a:t>
            </a:r>
            <a:r>
              <a:rPr lang="en-US" sz="1800" b="0" i="0" dirty="0">
                <a:effectLst/>
                <a:latin typeface="Ember Display"/>
              </a:rPr>
              <a:t>is data that lacks a predefined structure or format</a:t>
            </a:r>
          </a:p>
          <a:p>
            <a:pPr lvl="1" fontAlgn="base"/>
            <a:r>
              <a:rPr lang="en-US" sz="1800" b="0" i="0" dirty="0">
                <a:effectLst/>
                <a:latin typeface="Ember Display"/>
              </a:rPr>
              <a:t>Text data</a:t>
            </a:r>
          </a:p>
          <a:p>
            <a:pPr lvl="1" fontAlgn="base"/>
            <a:r>
              <a:rPr lang="en-US" sz="1800" b="0" i="0" dirty="0">
                <a:effectLst/>
                <a:latin typeface="Ember Display"/>
              </a:rPr>
              <a:t>Image data</a:t>
            </a:r>
          </a:p>
          <a:p>
            <a:endParaRPr lang="en-US" sz="1900" dirty="0"/>
          </a:p>
        </p:txBody>
      </p:sp>
    </p:spTree>
    <p:extLst>
      <p:ext uri="{BB962C8B-B14F-4D97-AF65-F5344CB8AC3E}">
        <p14:creationId xmlns:p14="http://schemas.microsoft.com/office/powerpoint/2010/main" val="3407526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44E696-4648-21AC-595D-81F42FBB967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ML Algorithm</a:t>
            </a:r>
          </a:p>
        </p:txBody>
      </p:sp>
      <p:sp>
        <p:nvSpPr>
          <p:cNvPr id="3" name="Content Placeholder 2">
            <a:extLst>
              <a:ext uri="{FF2B5EF4-FFF2-40B4-BE49-F238E27FC236}">
                <a16:creationId xmlns:a16="http://schemas.microsoft.com/office/drawing/2014/main" id="{6041BC59-83E2-92F3-A1CB-AD7EF7362FAA}"/>
              </a:ext>
            </a:extLst>
          </p:cNvPr>
          <p:cNvSpPr>
            <a:spLocks noGrp="1"/>
          </p:cNvSpPr>
          <p:nvPr>
            <p:ph idx="1"/>
          </p:nvPr>
        </p:nvSpPr>
        <p:spPr>
          <a:xfrm>
            <a:off x="4810259" y="649480"/>
            <a:ext cx="6555347" cy="5546047"/>
          </a:xfrm>
        </p:spPr>
        <p:txBody>
          <a:bodyPr anchor="ctr">
            <a:normAutofit/>
          </a:bodyPr>
          <a:lstStyle/>
          <a:p>
            <a:r>
              <a:rPr lang="en-US" sz="2000" b="0" i="0" dirty="0">
                <a:effectLst/>
                <a:latin typeface="Ember Display"/>
              </a:rPr>
              <a:t>The compiled training data is fed into machine learning algorithms. </a:t>
            </a:r>
          </a:p>
          <a:p>
            <a:pPr lvl="1"/>
            <a:r>
              <a:rPr lang="en-US" sz="2000" i="1" dirty="0">
                <a:latin typeface="Ember Display"/>
              </a:rPr>
              <a:t>S</a:t>
            </a:r>
            <a:r>
              <a:rPr lang="en-US" sz="2000" b="0" i="1" dirty="0">
                <a:effectLst/>
                <a:latin typeface="Ember Display"/>
              </a:rPr>
              <a:t>upervised learning</a:t>
            </a:r>
            <a:endParaRPr lang="en-US" sz="2000" dirty="0">
              <a:latin typeface="Ember Display"/>
            </a:endParaRPr>
          </a:p>
          <a:p>
            <a:pPr lvl="1"/>
            <a:r>
              <a:rPr lang="en-US" sz="2000" i="1" dirty="0">
                <a:latin typeface="Ember Display"/>
              </a:rPr>
              <a:t>U</a:t>
            </a:r>
            <a:r>
              <a:rPr lang="en-US" sz="2000" b="0" i="1" dirty="0">
                <a:effectLst/>
                <a:latin typeface="Ember Display"/>
              </a:rPr>
              <a:t>nsupervised</a:t>
            </a:r>
            <a:r>
              <a:rPr lang="en-US" sz="2000" b="0" i="0" dirty="0">
                <a:effectLst/>
                <a:latin typeface="Ember Display"/>
              </a:rPr>
              <a:t> </a:t>
            </a:r>
            <a:r>
              <a:rPr lang="en-US" sz="2000" b="0" i="1" dirty="0">
                <a:effectLst/>
                <a:latin typeface="Ember Display"/>
              </a:rPr>
              <a:t>learning</a:t>
            </a:r>
            <a:endParaRPr lang="en-US" sz="2000" dirty="0">
              <a:latin typeface="Ember Display"/>
            </a:endParaRPr>
          </a:p>
          <a:p>
            <a:pPr lvl="1"/>
            <a:r>
              <a:rPr lang="en-US" sz="2000" i="1" dirty="0">
                <a:latin typeface="Ember Display"/>
              </a:rPr>
              <a:t>R</a:t>
            </a:r>
            <a:r>
              <a:rPr lang="en-US" sz="2000" b="0" i="1" dirty="0">
                <a:effectLst/>
                <a:latin typeface="Ember Display"/>
              </a:rPr>
              <a:t>einforcement learning</a:t>
            </a:r>
            <a:r>
              <a:rPr lang="en-US" sz="2000" b="0" i="0" dirty="0">
                <a:effectLst/>
                <a:latin typeface="Ember Display"/>
              </a:rPr>
              <a:t>.</a:t>
            </a:r>
            <a:endParaRPr lang="en-US" sz="2000" dirty="0"/>
          </a:p>
        </p:txBody>
      </p:sp>
    </p:spTree>
    <p:extLst>
      <p:ext uri="{BB962C8B-B14F-4D97-AF65-F5344CB8AC3E}">
        <p14:creationId xmlns:p14="http://schemas.microsoft.com/office/powerpoint/2010/main" val="2175159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B34833-079B-6269-F682-226CE3727C49}"/>
              </a:ext>
            </a:extLst>
          </p:cNvPr>
          <p:cNvSpPr>
            <a:spLocks noGrp="1"/>
          </p:cNvSpPr>
          <p:nvPr>
            <p:ph type="title"/>
          </p:nvPr>
        </p:nvSpPr>
        <p:spPr>
          <a:xfrm>
            <a:off x="466722" y="586855"/>
            <a:ext cx="3201366" cy="3387497"/>
          </a:xfrm>
        </p:spPr>
        <p:txBody>
          <a:bodyPr anchor="b">
            <a:normAutofit/>
          </a:bodyPr>
          <a:lstStyle/>
          <a:p>
            <a:pPr algn="r"/>
            <a:r>
              <a:rPr lang="en-US" sz="4000" b="1" i="0">
                <a:solidFill>
                  <a:srgbClr val="FFFFFF"/>
                </a:solidFill>
                <a:effectLst/>
                <a:latin typeface="inherit"/>
              </a:rPr>
              <a:t>Inferencing</a:t>
            </a:r>
            <a:endParaRPr lang="en-US" sz="4000">
              <a:solidFill>
                <a:srgbClr val="FFFFFF"/>
              </a:solidFill>
            </a:endParaRPr>
          </a:p>
        </p:txBody>
      </p:sp>
      <p:sp>
        <p:nvSpPr>
          <p:cNvPr id="3" name="Content Placeholder 2">
            <a:extLst>
              <a:ext uri="{FF2B5EF4-FFF2-40B4-BE49-F238E27FC236}">
                <a16:creationId xmlns:a16="http://schemas.microsoft.com/office/drawing/2014/main" id="{FDC74ECE-EB02-4C8B-D5B6-EA8CAA6E0E14}"/>
              </a:ext>
            </a:extLst>
          </p:cNvPr>
          <p:cNvSpPr>
            <a:spLocks noGrp="1"/>
          </p:cNvSpPr>
          <p:nvPr>
            <p:ph idx="1"/>
          </p:nvPr>
        </p:nvSpPr>
        <p:spPr>
          <a:xfrm>
            <a:off x="4810259" y="649480"/>
            <a:ext cx="6555347" cy="5546047"/>
          </a:xfrm>
        </p:spPr>
        <p:txBody>
          <a:bodyPr anchor="ctr">
            <a:normAutofit/>
          </a:bodyPr>
          <a:lstStyle/>
          <a:p>
            <a:pPr fontAlgn="base"/>
            <a:r>
              <a:rPr lang="en-US" sz="2000" b="0" i="0">
                <a:effectLst/>
                <a:latin typeface="Ember Display"/>
              </a:rPr>
              <a:t>After the model has been trained, it is time to begin the process of using the information that a model has learned to make predictions or decisions. This is called inferencing.</a:t>
            </a:r>
          </a:p>
          <a:p>
            <a:pPr lvl="1" fontAlgn="base"/>
            <a:r>
              <a:rPr lang="en-US" sz="2000" b="0" i="0">
                <a:effectLst/>
                <a:latin typeface="Ember Display"/>
              </a:rPr>
              <a:t>Batch inferencing</a:t>
            </a:r>
          </a:p>
          <a:p>
            <a:pPr lvl="1" fontAlgn="base"/>
            <a:r>
              <a:rPr lang="en-US" sz="2000">
                <a:latin typeface="Ember Display"/>
              </a:rPr>
              <a:t>R</a:t>
            </a:r>
            <a:r>
              <a:rPr lang="en-US" sz="2000" b="0" i="0">
                <a:effectLst/>
                <a:latin typeface="Ember Display"/>
              </a:rPr>
              <a:t>eal-time inferencing</a:t>
            </a:r>
          </a:p>
          <a:p>
            <a:endParaRPr lang="en-US" sz="2000"/>
          </a:p>
        </p:txBody>
      </p:sp>
    </p:spTree>
    <p:extLst>
      <p:ext uri="{BB962C8B-B14F-4D97-AF65-F5344CB8AC3E}">
        <p14:creationId xmlns:p14="http://schemas.microsoft.com/office/powerpoint/2010/main" val="3024597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601009-6CB2-7EE3-A3A2-F36A1EE2CC06}"/>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Deep Learning</a:t>
            </a:r>
          </a:p>
        </p:txBody>
      </p:sp>
      <p:sp>
        <p:nvSpPr>
          <p:cNvPr id="3" name="Content Placeholder 2">
            <a:extLst>
              <a:ext uri="{FF2B5EF4-FFF2-40B4-BE49-F238E27FC236}">
                <a16:creationId xmlns:a16="http://schemas.microsoft.com/office/drawing/2014/main" id="{5543756B-9227-7349-445B-4415B4427D31}"/>
              </a:ext>
            </a:extLst>
          </p:cNvPr>
          <p:cNvSpPr>
            <a:spLocks noGrp="1"/>
          </p:cNvSpPr>
          <p:nvPr>
            <p:ph idx="1"/>
          </p:nvPr>
        </p:nvSpPr>
        <p:spPr>
          <a:xfrm>
            <a:off x="4810259" y="649480"/>
            <a:ext cx="6555347" cy="5546047"/>
          </a:xfrm>
        </p:spPr>
        <p:txBody>
          <a:bodyPr anchor="ctr">
            <a:normAutofit/>
          </a:bodyPr>
          <a:lstStyle/>
          <a:p>
            <a:r>
              <a:rPr lang="en-US" sz="2000" b="0" i="0" dirty="0">
                <a:effectLst/>
                <a:latin typeface="Ember Display"/>
              </a:rPr>
              <a:t>The field of deep learning is inspired by the structure and function of the brain. </a:t>
            </a:r>
            <a:r>
              <a:rPr lang="en-US" sz="2000" dirty="0"/>
              <a:t>Uses neurons and synapses (like our brain) to train a model </a:t>
            </a:r>
          </a:p>
          <a:p>
            <a:pPr lvl="1"/>
            <a:r>
              <a:rPr lang="en-US" sz="1600" dirty="0"/>
              <a:t>Computer Vision</a:t>
            </a:r>
          </a:p>
          <a:p>
            <a:pPr lvl="1"/>
            <a:r>
              <a:rPr lang="en-US" sz="1600" dirty="0"/>
              <a:t> Natural Language Processing (NLP)</a:t>
            </a:r>
            <a:endParaRPr lang="en-US" dirty="0"/>
          </a:p>
        </p:txBody>
      </p:sp>
      <p:pic>
        <p:nvPicPr>
          <p:cNvPr id="6" name="Picture 5">
            <a:extLst>
              <a:ext uri="{FF2B5EF4-FFF2-40B4-BE49-F238E27FC236}">
                <a16:creationId xmlns:a16="http://schemas.microsoft.com/office/drawing/2014/main" id="{1A827A92-5EDC-F6A1-5688-8F5AEAB959A2}"/>
              </a:ext>
            </a:extLst>
          </p:cNvPr>
          <p:cNvPicPr>
            <a:picLocks noChangeAspect="1"/>
          </p:cNvPicPr>
          <p:nvPr/>
        </p:nvPicPr>
        <p:blipFill>
          <a:blip r:embed="rId3"/>
          <a:stretch>
            <a:fillRect/>
          </a:stretch>
        </p:blipFill>
        <p:spPr>
          <a:xfrm>
            <a:off x="5443366" y="4366158"/>
            <a:ext cx="3847004" cy="2501980"/>
          </a:xfrm>
          <a:prstGeom prst="rect">
            <a:avLst/>
          </a:prstGeom>
        </p:spPr>
      </p:pic>
    </p:spTree>
    <p:extLst>
      <p:ext uri="{BB962C8B-B14F-4D97-AF65-F5344CB8AC3E}">
        <p14:creationId xmlns:p14="http://schemas.microsoft.com/office/powerpoint/2010/main" val="2209102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4" name="Rectangle 6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Freeform: Shape 7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4" name="Rectangle 7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EBFBB8-EE5F-8761-B70D-F3DE18A104B2}"/>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Generative AI(Gen AI)</a:t>
            </a:r>
          </a:p>
        </p:txBody>
      </p:sp>
      <p:sp>
        <p:nvSpPr>
          <p:cNvPr id="3" name="Content Placeholder 2">
            <a:extLst>
              <a:ext uri="{FF2B5EF4-FFF2-40B4-BE49-F238E27FC236}">
                <a16:creationId xmlns:a16="http://schemas.microsoft.com/office/drawing/2014/main" id="{D72C5329-9790-AC19-B444-0B922677F02F}"/>
              </a:ext>
            </a:extLst>
          </p:cNvPr>
          <p:cNvSpPr>
            <a:spLocks noGrp="1"/>
          </p:cNvSpPr>
          <p:nvPr>
            <p:ph idx="1"/>
          </p:nvPr>
        </p:nvSpPr>
        <p:spPr>
          <a:xfrm>
            <a:off x="4810259" y="649480"/>
            <a:ext cx="6555347" cy="5546047"/>
          </a:xfrm>
        </p:spPr>
        <p:txBody>
          <a:bodyPr anchor="ctr">
            <a:normAutofit/>
          </a:bodyPr>
          <a:lstStyle/>
          <a:p>
            <a:pPr fontAlgn="base"/>
            <a:endParaRPr lang="en-US" sz="2000" b="0" i="0" dirty="0">
              <a:effectLst/>
              <a:latin typeface="Ember Display"/>
            </a:endParaRPr>
          </a:p>
          <a:p>
            <a:pPr fontAlgn="base"/>
            <a:endParaRPr lang="en-US" sz="2000" dirty="0">
              <a:latin typeface="Ember Display"/>
            </a:endParaRPr>
          </a:p>
          <a:p>
            <a:pPr fontAlgn="base"/>
            <a:r>
              <a:rPr lang="en-US" sz="2000" b="0" i="0" dirty="0">
                <a:effectLst/>
                <a:latin typeface="Ember Display"/>
              </a:rPr>
              <a:t>Generative AI u</a:t>
            </a:r>
            <a:r>
              <a:rPr lang="en-US" sz="2000" dirty="0">
                <a:latin typeface="Ember Display"/>
              </a:rPr>
              <a:t>sed to generate new data that is like the data it was trained on </a:t>
            </a:r>
            <a:r>
              <a:rPr lang="en-US" sz="2000" b="0" i="0" dirty="0">
                <a:effectLst/>
                <a:latin typeface="Ember Display"/>
              </a:rPr>
              <a:t>internet-scale data, and these models are called foundation models (FMs). Multi purpose foundation models backed by neural networks. They can be fine-tuned if necessary to meet business cases. </a:t>
            </a:r>
          </a:p>
          <a:p>
            <a:pPr lvl="1" fontAlgn="base"/>
            <a:endParaRPr lang="en-US" sz="2000" b="0" i="0" dirty="0">
              <a:effectLst/>
              <a:latin typeface="Ember Display"/>
            </a:endParaRPr>
          </a:p>
          <a:p>
            <a:pPr marL="0" indent="0">
              <a:buNone/>
            </a:pPr>
            <a:endParaRPr lang="en-US" sz="2000" dirty="0"/>
          </a:p>
        </p:txBody>
      </p:sp>
    </p:spTree>
    <p:extLst>
      <p:ext uri="{BB962C8B-B14F-4D97-AF65-F5344CB8AC3E}">
        <p14:creationId xmlns:p14="http://schemas.microsoft.com/office/powerpoint/2010/main" val="29255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2A1FB1F-1E50-EDC2-8E88-902A988DB11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How does Gen AI works</a:t>
            </a:r>
          </a:p>
        </p:txBody>
      </p:sp>
      <p:pic>
        <p:nvPicPr>
          <p:cNvPr id="5" name="Content Placeholder 4">
            <a:extLst>
              <a:ext uri="{FF2B5EF4-FFF2-40B4-BE49-F238E27FC236}">
                <a16:creationId xmlns:a16="http://schemas.microsoft.com/office/drawing/2014/main" id="{A08BB8AC-B313-7DEC-0037-1D93AA2056E0}"/>
              </a:ext>
            </a:extLst>
          </p:cNvPr>
          <p:cNvPicPr>
            <a:picLocks noGrp="1" noChangeAspect="1"/>
          </p:cNvPicPr>
          <p:nvPr>
            <p:ph idx="1"/>
          </p:nvPr>
        </p:nvPicPr>
        <p:blipFill>
          <a:blip r:embed="rId2"/>
          <a:stretch>
            <a:fillRect/>
          </a:stretch>
        </p:blipFill>
        <p:spPr>
          <a:xfrm>
            <a:off x="4502428" y="2200623"/>
            <a:ext cx="7225748" cy="2456754"/>
          </a:xfrm>
          <a:prstGeom prst="rect">
            <a:avLst/>
          </a:prstGeom>
        </p:spPr>
      </p:pic>
    </p:spTree>
    <p:extLst>
      <p:ext uri="{BB962C8B-B14F-4D97-AF65-F5344CB8AC3E}">
        <p14:creationId xmlns:p14="http://schemas.microsoft.com/office/powerpoint/2010/main" val="2221825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727A10-A892-EB27-D06B-7EF1C69CD2B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Different Types of Foundation Modes</a:t>
            </a:r>
          </a:p>
        </p:txBody>
      </p:sp>
      <p:sp>
        <p:nvSpPr>
          <p:cNvPr id="3" name="Content Placeholder 2">
            <a:extLst>
              <a:ext uri="{FF2B5EF4-FFF2-40B4-BE49-F238E27FC236}">
                <a16:creationId xmlns:a16="http://schemas.microsoft.com/office/drawing/2014/main" id="{8F2780EC-2CE5-188E-9DBD-DFE3E9830BC9}"/>
              </a:ext>
            </a:extLst>
          </p:cNvPr>
          <p:cNvSpPr>
            <a:spLocks noGrp="1"/>
          </p:cNvSpPr>
          <p:nvPr>
            <p:ph idx="1"/>
          </p:nvPr>
        </p:nvSpPr>
        <p:spPr>
          <a:xfrm>
            <a:off x="4810259" y="649480"/>
            <a:ext cx="6555347" cy="5546047"/>
          </a:xfrm>
        </p:spPr>
        <p:txBody>
          <a:bodyPr anchor="ctr">
            <a:normAutofit/>
          </a:bodyPr>
          <a:lstStyle/>
          <a:p>
            <a:pPr marL="228600" lvl="1" fontAlgn="base">
              <a:spcBef>
                <a:spcPts val="1000"/>
              </a:spcBef>
            </a:pPr>
            <a:r>
              <a:rPr lang="en-US" sz="2000">
                <a:latin typeface="Ember Display"/>
              </a:rPr>
              <a:t>Different Types of FM’s:</a:t>
            </a:r>
          </a:p>
          <a:p>
            <a:pPr marL="685800" lvl="2" fontAlgn="base">
              <a:spcBef>
                <a:spcPts val="1000"/>
              </a:spcBef>
            </a:pPr>
            <a:r>
              <a:rPr lang="en-US">
                <a:latin typeface="Ember Display"/>
              </a:rPr>
              <a:t>Large Language Model(LLM)</a:t>
            </a:r>
          </a:p>
          <a:p>
            <a:pPr marL="1143000" lvl="3" fontAlgn="base">
              <a:spcBef>
                <a:spcPts val="1000"/>
              </a:spcBef>
            </a:pPr>
            <a:r>
              <a:rPr lang="en-US" sz="2000">
                <a:latin typeface="Ember Display"/>
              </a:rPr>
              <a:t>Tokens</a:t>
            </a:r>
          </a:p>
          <a:p>
            <a:pPr marL="1143000" lvl="3" fontAlgn="base">
              <a:spcBef>
                <a:spcPts val="1000"/>
              </a:spcBef>
            </a:pPr>
            <a:r>
              <a:rPr lang="en-US" sz="2000">
                <a:latin typeface="Ember Display"/>
              </a:rPr>
              <a:t>Embedding and Vectors</a:t>
            </a:r>
          </a:p>
          <a:p>
            <a:pPr marL="685800" lvl="2" fontAlgn="base">
              <a:spcBef>
                <a:spcPts val="1000"/>
              </a:spcBef>
            </a:pPr>
            <a:r>
              <a:rPr lang="en-US">
                <a:latin typeface="Ember Display"/>
              </a:rPr>
              <a:t>Diffusion Models</a:t>
            </a:r>
          </a:p>
          <a:p>
            <a:pPr marL="1143000" lvl="3" fontAlgn="base">
              <a:spcBef>
                <a:spcPts val="1000"/>
              </a:spcBef>
            </a:pPr>
            <a:r>
              <a:rPr lang="en-US" sz="2000">
                <a:latin typeface="Ember Display"/>
              </a:rPr>
              <a:t>Forward Diffusion</a:t>
            </a:r>
          </a:p>
          <a:p>
            <a:pPr marL="1143000" lvl="3" fontAlgn="base">
              <a:spcBef>
                <a:spcPts val="1000"/>
              </a:spcBef>
            </a:pPr>
            <a:r>
              <a:rPr lang="en-US" sz="2000">
                <a:latin typeface="Ember Display"/>
              </a:rPr>
              <a:t>Reverse Diffusion</a:t>
            </a:r>
          </a:p>
          <a:p>
            <a:pPr marL="685800" lvl="2" fontAlgn="base">
              <a:spcBef>
                <a:spcPts val="1000"/>
              </a:spcBef>
            </a:pPr>
            <a:r>
              <a:rPr lang="en-US">
                <a:latin typeface="Ember Display"/>
              </a:rPr>
              <a:t>Multimodal Models</a:t>
            </a:r>
          </a:p>
          <a:p>
            <a:endParaRPr lang="en-US" sz="2000"/>
          </a:p>
        </p:txBody>
      </p:sp>
    </p:spTree>
    <p:extLst>
      <p:ext uri="{BB962C8B-B14F-4D97-AF65-F5344CB8AC3E}">
        <p14:creationId xmlns:p14="http://schemas.microsoft.com/office/powerpoint/2010/main" val="266484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4D83FF-AD1D-1857-2F06-BB22DD5D4EE1}"/>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Optimizing Foundation Models</a:t>
            </a:r>
          </a:p>
        </p:txBody>
      </p:sp>
      <p:sp>
        <p:nvSpPr>
          <p:cNvPr id="3" name="Content Placeholder 2">
            <a:extLst>
              <a:ext uri="{FF2B5EF4-FFF2-40B4-BE49-F238E27FC236}">
                <a16:creationId xmlns:a16="http://schemas.microsoft.com/office/drawing/2014/main" id="{6778B6D5-8378-C90F-096C-B97F44D7E520}"/>
              </a:ext>
            </a:extLst>
          </p:cNvPr>
          <p:cNvSpPr>
            <a:spLocks noGrp="1"/>
          </p:cNvSpPr>
          <p:nvPr>
            <p:ph idx="1"/>
          </p:nvPr>
        </p:nvSpPr>
        <p:spPr>
          <a:xfrm>
            <a:off x="4810259" y="649480"/>
            <a:ext cx="6555347" cy="5546047"/>
          </a:xfrm>
        </p:spPr>
        <p:txBody>
          <a:bodyPr anchor="ctr">
            <a:normAutofit/>
          </a:bodyPr>
          <a:lstStyle/>
          <a:p>
            <a:r>
              <a:rPr lang="en-US" sz="2000" b="0" i="0">
                <a:effectLst/>
                <a:latin typeface="Ember Display"/>
              </a:rPr>
              <a:t>A key part of the foundation model lifecycle is the optimization phase.</a:t>
            </a:r>
          </a:p>
          <a:p>
            <a:pPr lvl="1"/>
            <a:r>
              <a:rPr lang="en-US" sz="2000" i="0">
                <a:effectLst/>
                <a:latin typeface="inherit"/>
              </a:rPr>
              <a:t>Prompt engineering</a:t>
            </a:r>
            <a:r>
              <a:rPr lang="en-US" sz="2000" i="0">
                <a:effectLst/>
                <a:latin typeface="Ember Display"/>
              </a:rPr>
              <a:t> </a:t>
            </a:r>
          </a:p>
          <a:p>
            <a:pPr lvl="1"/>
            <a:r>
              <a:rPr lang="en-US" sz="2000" i="0">
                <a:effectLst/>
                <a:latin typeface="inherit"/>
              </a:rPr>
              <a:t>Fine-tuning</a:t>
            </a:r>
          </a:p>
          <a:p>
            <a:pPr lvl="2"/>
            <a:r>
              <a:rPr lang="en-US" i="0">
                <a:effectLst/>
                <a:latin typeface="Ember Display"/>
              </a:rPr>
              <a:t>Instruction fine-tuning</a:t>
            </a:r>
          </a:p>
          <a:p>
            <a:pPr lvl="2"/>
            <a:r>
              <a:rPr lang="en-US" i="0">
                <a:effectLst/>
                <a:latin typeface="Ember Display"/>
              </a:rPr>
              <a:t>Reinforcement learning from human feedback (RLHF) </a:t>
            </a:r>
          </a:p>
          <a:p>
            <a:pPr lvl="1"/>
            <a:r>
              <a:rPr lang="en-US" sz="2000">
                <a:latin typeface="inherit"/>
              </a:rPr>
              <a:t>Retrieval-augmented generation</a:t>
            </a:r>
          </a:p>
        </p:txBody>
      </p:sp>
    </p:spTree>
    <p:extLst>
      <p:ext uri="{BB962C8B-B14F-4D97-AF65-F5344CB8AC3E}">
        <p14:creationId xmlns:p14="http://schemas.microsoft.com/office/powerpoint/2010/main" val="378874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8CF5823-3E9A-AFBE-4201-9DD0EF72B01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700" kern="1200">
                <a:solidFill>
                  <a:srgbClr val="FFFFFF"/>
                </a:solidFill>
                <a:effectLst/>
                <a:latin typeface="+mj-lt"/>
                <a:ea typeface="+mj-ea"/>
                <a:cs typeface="+mj-cs"/>
              </a:rPr>
              <a:t>AWS Infrastructure and technologies for AI and ML</a:t>
            </a:r>
            <a:endParaRPr lang="en-US" sz="3700" kern="120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id="{1C030923-9843-3E70-CE8A-EC4F14735334}"/>
              </a:ext>
            </a:extLst>
          </p:cNvPr>
          <p:cNvPicPr>
            <a:picLocks noGrp="1" noChangeAspect="1"/>
          </p:cNvPicPr>
          <p:nvPr>
            <p:ph idx="1"/>
          </p:nvPr>
        </p:nvPicPr>
        <p:blipFill>
          <a:blip r:embed="rId3"/>
          <a:stretch>
            <a:fillRect/>
          </a:stretch>
        </p:blipFill>
        <p:spPr>
          <a:xfrm>
            <a:off x="4502428" y="884421"/>
            <a:ext cx="7225748" cy="4621982"/>
          </a:xfrm>
          <a:prstGeom prst="rect">
            <a:avLst/>
          </a:prstGeom>
        </p:spPr>
      </p:pic>
    </p:spTree>
    <p:extLst>
      <p:ext uri="{BB962C8B-B14F-4D97-AF65-F5344CB8AC3E}">
        <p14:creationId xmlns:p14="http://schemas.microsoft.com/office/powerpoint/2010/main" val="2570123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5EB004-92F0-2140-6FB7-5FF8E96851B1}"/>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ML Frameworks</a:t>
            </a:r>
          </a:p>
        </p:txBody>
      </p:sp>
      <p:sp>
        <p:nvSpPr>
          <p:cNvPr id="3" name="Content Placeholder 2">
            <a:extLst>
              <a:ext uri="{FF2B5EF4-FFF2-40B4-BE49-F238E27FC236}">
                <a16:creationId xmlns:a16="http://schemas.microsoft.com/office/drawing/2014/main" id="{BD8B58C8-E418-D8FF-58B1-6EDD336F2448}"/>
              </a:ext>
            </a:extLst>
          </p:cNvPr>
          <p:cNvSpPr>
            <a:spLocks noGrp="1"/>
          </p:cNvSpPr>
          <p:nvPr>
            <p:ph idx="1"/>
          </p:nvPr>
        </p:nvSpPr>
        <p:spPr>
          <a:xfrm>
            <a:off x="4810259" y="649480"/>
            <a:ext cx="6555347" cy="5546047"/>
          </a:xfrm>
        </p:spPr>
        <p:txBody>
          <a:bodyPr anchor="ctr">
            <a:normAutofit/>
          </a:bodyPr>
          <a:lstStyle/>
          <a:p>
            <a:endParaRPr lang="en-US" sz="1400" dirty="0">
              <a:effectLst/>
              <a:latin typeface="Calibri" panose="020F0502020204030204" pitchFamily="34" charset="0"/>
            </a:endParaRPr>
          </a:p>
          <a:p>
            <a:r>
              <a:rPr lang="en-US" sz="1800" dirty="0" err="1">
                <a:effectLst/>
                <a:latin typeface="Calibri" panose="020F0502020204030204" pitchFamily="34" charset="0"/>
              </a:rPr>
              <a:t>SageMaker</a:t>
            </a:r>
            <a:r>
              <a:rPr lang="en-US" sz="1800" dirty="0">
                <a:effectLst/>
                <a:latin typeface="Calibri" panose="020F0502020204030204" pitchFamily="34" charset="0"/>
              </a:rPr>
              <a:t> </a:t>
            </a:r>
            <a:r>
              <a:rPr lang="en-US" sz="1800" dirty="0">
                <a:effectLst/>
                <a:latin typeface="Aptos" panose="020B0004020202020204" pitchFamily="34" charset="0"/>
                <a:ea typeface="Aptos" panose="020B0004020202020204" pitchFamily="34" charset="0"/>
                <a:cs typeface="Times New Roman" panose="02020603050405020304" pitchFamily="18" charset="0"/>
              </a:rPr>
              <a:t>Is a fully managed machine learning platform that enables developers and data scientists to build, train, deploy and manage machine learning models. </a:t>
            </a:r>
            <a:endParaRPr lang="en-US" sz="1800" dirty="0">
              <a:effectLst/>
              <a:latin typeface="Calibri" panose="020F0502020204030204" pitchFamily="34" charset="0"/>
            </a:endParaRPr>
          </a:p>
          <a:p>
            <a:pPr lvl="1"/>
            <a:r>
              <a:rPr lang="en-US" sz="1800" kern="100" dirty="0">
                <a:effectLst/>
                <a:latin typeface="Aptos" panose="020B0004020202020204" pitchFamily="34" charset="0"/>
                <a:ea typeface="Aptos" panose="020B0004020202020204" pitchFamily="34" charset="0"/>
                <a:cs typeface="Times New Roman" panose="02020603050405020304" pitchFamily="18" charset="0"/>
              </a:rPr>
              <a:t>Studio</a:t>
            </a:r>
          </a:p>
          <a:p>
            <a:pPr lvl="1"/>
            <a:r>
              <a:rPr lang="en-US" sz="1800" kern="100" dirty="0">
                <a:effectLst/>
                <a:latin typeface="Aptos" panose="020B0004020202020204" pitchFamily="34" charset="0"/>
                <a:ea typeface="Aptos" panose="020B0004020202020204" pitchFamily="34" charset="0"/>
                <a:cs typeface="Times New Roman" panose="02020603050405020304" pitchFamily="18" charset="0"/>
              </a:rPr>
              <a:t>Canvas</a:t>
            </a:r>
          </a:p>
          <a:p>
            <a:pPr lvl="1"/>
            <a:r>
              <a:rPr lang="en-US" sz="1800" kern="100" dirty="0">
                <a:effectLst/>
                <a:latin typeface="Aptos" panose="020B0004020202020204" pitchFamily="34" charset="0"/>
                <a:ea typeface="Aptos" panose="020B0004020202020204" pitchFamily="34" charset="0"/>
                <a:cs typeface="Times New Roman" panose="02020603050405020304" pitchFamily="18" charset="0"/>
              </a:rPr>
              <a:t>Data wrangler</a:t>
            </a:r>
          </a:p>
          <a:p>
            <a:pPr lvl="1"/>
            <a:r>
              <a:rPr lang="en-US" sz="1800" kern="100" dirty="0">
                <a:effectLst/>
                <a:latin typeface="Aptos" panose="020B0004020202020204" pitchFamily="34" charset="0"/>
                <a:ea typeface="Aptos" panose="020B0004020202020204" pitchFamily="34" charset="0"/>
                <a:cs typeface="Times New Roman" panose="02020603050405020304" pitchFamily="18" charset="0"/>
              </a:rPr>
              <a:t>Clarify</a:t>
            </a:r>
          </a:p>
          <a:p>
            <a:pPr lvl="1"/>
            <a:r>
              <a:rPr lang="en-US" sz="1800" kern="100" dirty="0">
                <a:effectLst/>
                <a:latin typeface="Aptos" panose="020B0004020202020204" pitchFamily="34" charset="0"/>
                <a:ea typeface="Aptos" panose="020B0004020202020204" pitchFamily="34" charset="0"/>
                <a:cs typeface="Times New Roman" panose="02020603050405020304" pitchFamily="18" charset="0"/>
              </a:rPr>
              <a:t>Debugger</a:t>
            </a:r>
          </a:p>
          <a:p>
            <a:pPr lvl="1"/>
            <a:r>
              <a:rPr lang="en-US" sz="1800" kern="100" dirty="0">
                <a:effectLst/>
                <a:latin typeface="Aptos" panose="020B0004020202020204" pitchFamily="34" charset="0"/>
                <a:ea typeface="Aptos" panose="020B0004020202020204" pitchFamily="34" charset="0"/>
                <a:cs typeface="Times New Roman" panose="02020603050405020304" pitchFamily="18" charset="0"/>
              </a:rPr>
              <a:t>Autopilot</a:t>
            </a:r>
          </a:p>
          <a:p>
            <a:pPr lvl="1"/>
            <a:r>
              <a:rPr lang="en-US" sz="1800" kern="100" dirty="0">
                <a:effectLst/>
                <a:latin typeface="Aptos" panose="020B0004020202020204" pitchFamily="34" charset="0"/>
                <a:ea typeface="Aptos" panose="020B0004020202020204" pitchFamily="34" charset="0"/>
                <a:cs typeface="Times New Roman" panose="02020603050405020304" pitchFamily="18" charset="0"/>
              </a:rPr>
              <a:t>Pipelines</a:t>
            </a:r>
          </a:p>
          <a:p>
            <a:pPr lvl="1"/>
            <a:r>
              <a:rPr lang="en-US" sz="1800" kern="100" dirty="0">
                <a:effectLst/>
                <a:latin typeface="Aptos" panose="020B0004020202020204" pitchFamily="34" charset="0"/>
                <a:ea typeface="Aptos" panose="020B0004020202020204" pitchFamily="34" charset="0"/>
                <a:cs typeface="Times New Roman" panose="02020603050405020304" pitchFamily="18" charset="0"/>
              </a:rPr>
              <a:t>Feature Store</a:t>
            </a:r>
          </a:p>
          <a:p>
            <a:pPr lvl="1"/>
            <a:r>
              <a:rPr lang="en-US" sz="1800" kern="100" dirty="0">
                <a:effectLst/>
                <a:latin typeface="Aptos" panose="020B0004020202020204" pitchFamily="34" charset="0"/>
                <a:ea typeface="Aptos" panose="020B0004020202020204" pitchFamily="34" charset="0"/>
                <a:cs typeface="Times New Roman" panose="02020603050405020304" pitchFamily="18" charset="0"/>
              </a:rPr>
              <a:t>Ground truth</a:t>
            </a:r>
          </a:p>
          <a:p>
            <a:pPr lvl="1"/>
            <a:r>
              <a:rPr lang="en-US" sz="1800" kern="100" dirty="0">
                <a:effectLst/>
                <a:latin typeface="Aptos" panose="020B0004020202020204" pitchFamily="34" charset="0"/>
                <a:ea typeface="Aptos" panose="020B0004020202020204" pitchFamily="34" charset="0"/>
                <a:cs typeface="Times New Roman" panose="02020603050405020304" pitchFamily="18" charset="0"/>
              </a:rPr>
              <a:t>Monitor</a:t>
            </a:r>
          </a:p>
          <a:p>
            <a:pPr lvl="1"/>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EdnPoint</a:t>
            </a:r>
            <a:endParaRPr lang="en-US" sz="1800" dirty="0"/>
          </a:p>
          <a:p>
            <a:endParaRPr lang="en-US" sz="1400" dirty="0"/>
          </a:p>
        </p:txBody>
      </p:sp>
    </p:spTree>
    <p:extLst>
      <p:ext uri="{BB962C8B-B14F-4D97-AF65-F5344CB8AC3E}">
        <p14:creationId xmlns:p14="http://schemas.microsoft.com/office/powerpoint/2010/main" val="2779230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6A21DE-B842-A17E-8B40-24F17DDD7ED8}"/>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AI/ML Services</a:t>
            </a:r>
          </a:p>
        </p:txBody>
      </p:sp>
      <p:sp>
        <p:nvSpPr>
          <p:cNvPr id="3" name="Content Placeholder 2">
            <a:extLst>
              <a:ext uri="{FF2B5EF4-FFF2-40B4-BE49-F238E27FC236}">
                <a16:creationId xmlns:a16="http://schemas.microsoft.com/office/drawing/2014/main" id="{D80F2992-103D-9B04-2D4F-584B56673F8C}"/>
              </a:ext>
            </a:extLst>
          </p:cNvPr>
          <p:cNvSpPr>
            <a:spLocks noGrp="1"/>
          </p:cNvSpPr>
          <p:nvPr>
            <p:ph idx="1"/>
          </p:nvPr>
        </p:nvSpPr>
        <p:spPr>
          <a:xfrm>
            <a:off x="4810259" y="649480"/>
            <a:ext cx="6555347" cy="5546047"/>
          </a:xfrm>
        </p:spPr>
        <p:txBody>
          <a:bodyPr anchor="ctr">
            <a:normAutofit/>
          </a:bodyPr>
          <a:lstStyle/>
          <a:p>
            <a:r>
              <a:rPr lang="en-US" sz="2000">
                <a:effectLst/>
                <a:latin typeface="Calibri" panose="020F0502020204030204" pitchFamily="34" charset="0"/>
              </a:rPr>
              <a:t>AWS Provides a robust AI/ML services layer, offering ready to use solutions.  </a:t>
            </a:r>
          </a:p>
          <a:p>
            <a:pPr lvl="1"/>
            <a:r>
              <a:rPr lang="en-US" sz="2000" b="0" i="0">
                <a:latin typeface="Calibri" panose="020F0502020204030204" pitchFamily="34" charset="0"/>
              </a:rPr>
              <a:t>Amazon Comprehend</a:t>
            </a:r>
          </a:p>
          <a:p>
            <a:pPr lvl="1"/>
            <a:r>
              <a:rPr lang="en-US" sz="2000">
                <a:latin typeface="Calibri" panose="020F0502020204030204" pitchFamily="34" charset="0"/>
              </a:rPr>
              <a:t>Amazon Translate</a:t>
            </a:r>
          </a:p>
          <a:p>
            <a:pPr lvl="1"/>
            <a:r>
              <a:rPr lang="en-US" sz="2000" b="0" i="0">
                <a:latin typeface="Calibri" panose="020F0502020204030204" pitchFamily="34" charset="0"/>
              </a:rPr>
              <a:t>Amazon Transcribe</a:t>
            </a:r>
          </a:p>
          <a:p>
            <a:pPr lvl="1"/>
            <a:r>
              <a:rPr lang="en-US" sz="2000" b="0" i="0">
                <a:latin typeface="Calibri" panose="020F0502020204030204" pitchFamily="34" charset="0"/>
              </a:rPr>
              <a:t>Amazon Polly</a:t>
            </a:r>
          </a:p>
          <a:p>
            <a:pPr lvl="1"/>
            <a:r>
              <a:rPr lang="en-US" sz="2000">
                <a:latin typeface="Calibri" panose="020F0502020204030204" pitchFamily="34" charset="0"/>
              </a:rPr>
              <a:t>Amazon Rekognition</a:t>
            </a:r>
          </a:p>
          <a:p>
            <a:pPr lvl="1"/>
            <a:r>
              <a:rPr lang="en-US" sz="2000" b="0" i="0">
                <a:latin typeface="Calibri" panose="020F0502020204030204" pitchFamily="34" charset="0"/>
              </a:rPr>
              <a:t>Amazon Lex</a:t>
            </a:r>
          </a:p>
          <a:p>
            <a:pPr lvl="1"/>
            <a:r>
              <a:rPr lang="en-US" sz="2000">
                <a:latin typeface="Calibri" panose="020F0502020204030204" pitchFamily="34" charset="0"/>
              </a:rPr>
              <a:t>Amazon Personalize</a:t>
            </a:r>
          </a:p>
          <a:p>
            <a:pPr lvl="1"/>
            <a:r>
              <a:rPr lang="en-US" sz="2000" b="0" i="0">
                <a:latin typeface="Calibri" panose="020F0502020204030204" pitchFamily="34" charset="0"/>
              </a:rPr>
              <a:t>Amazon Textract</a:t>
            </a:r>
          </a:p>
          <a:p>
            <a:pPr lvl="1"/>
            <a:r>
              <a:rPr lang="en-US" sz="2000">
                <a:latin typeface="Calibri" panose="020F0502020204030204" pitchFamily="34" charset="0"/>
              </a:rPr>
              <a:t>Amazon Kendra</a:t>
            </a:r>
          </a:p>
          <a:p>
            <a:pPr lvl="1"/>
            <a:r>
              <a:rPr lang="en-US" sz="2000" b="0" i="0">
                <a:latin typeface="Calibri" panose="020F0502020204030204" pitchFamily="34" charset="0"/>
              </a:rPr>
              <a:t>Amazon Deep Racer</a:t>
            </a:r>
          </a:p>
          <a:p>
            <a:pPr lvl="1"/>
            <a:endParaRPr lang="en-US" sz="2000" b="0" i="0">
              <a:effectLst/>
              <a:latin typeface="Calibri" panose="020F0502020204030204" pitchFamily="34" charset="0"/>
            </a:endParaRPr>
          </a:p>
          <a:p>
            <a:endParaRPr lang="en-US" sz="2000"/>
          </a:p>
        </p:txBody>
      </p:sp>
    </p:spTree>
    <p:extLst>
      <p:ext uri="{BB962C8B-B14F-4D97-AF65-F5344CB8AC3E}">
        <p14:creationId xmlns:p14="http://schemas.microsoft.com/office/powerpoint/2010/main" val="190677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9E8884-04D3-B2CE-3533-2D6EEBF99A2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Generative AI</a:t>
            </a:r>
          </a:p>
        </p:txBody>
      </p:sp>
      <p:sp>
        <p:nvSpPr>
          <p:cNvPr id="3" name="Content Placeholder 2">
            <a:extLst>
              <a:ext uri="{FF2B5EF4-FFF2-40B4-BE49-F238E27FC236}">
                <a16:creationId xmlns:a16="http://schemas.microsoft.com/office/drawing/2014/main" id="{C4D3B787-7C44-6F36-2576-65F50EA36EC5}"/>
              </a:ext>
            </a:extLst>
          </p:cNvPr>
          <p:cNvSpPr>
            <a:spLocks noGrp="1"/>
          </p:cNvSpPr>
          <p:nvPr>
            <p:ph idx="1"/>
          </p:nvPr>
        </p:nvSpPr>
        <p:spPr>
          <a:xfrm>
            <a:off x="4810259" y="649480"/>
            <a:ext cx="6555347" cy="5546047"/>
          </a:xfrm>
        </p:spPr>
        <p:txBody>
          <a:bodyPr anchor="ctr">
            <a:normAutofit/>
          </a:bodyPr>
          <a:lstStyle/>
          <a:p>
            <a:pPr fontAlgn="ctr"/>
            <a:r>
              <a:rPr lang="en-US" sz="2000" b="0" i="0" dirty="0">
                <a:effectLst/>
                <a:latin typeface="Calibri" panose="020F0502020204030204" pitchFamily="34" charset="0"/>
              </a:rPr>
              <a:t>Generative AI layer offers a suite of powerful tools and services specially designed for generative AI tasks. </a:t>
            </a:r>
          </a:p>
          <a:p>
            <a:pPr lvl="1" rtl="0" fontAlgn="ctr"/>
            <a:r>
              <a:rPr lang="en-US" sz="2000" b="0" i="0" dirty="0">
                <a:effectLst/>
                <a:latin typeface="Calibri" panose="020F0502020204030204" pitchFamily="34" charset="0"/>
              </a:rPr>
              <a:t>Sage Maker Jump Start</a:t>
            </a:r>
          </a:p>
          <a:p>
            <a:pPr lvl="1" rtl="0" fontAlgn="ctr"/>
            <a:r>
              <a:rPr lang="en-US" sz="2000" b="0" i="0" dirty="0">
                <a:effectLst/>
                <a:latin typeface="Calibri" panose="020F0502020204030204" pitchFamily="34" charset="0"/>
              </a:rPr>
              <a:t>Amazon Bedrock</a:t>
            </a:r>
          </a:p>
          <a:p>
            <a:pPr lvl="1" rtl="0" fontAlgn="ctr"/>
            <a:r>
              <a:rPr lang="en-US" sz="2000" b="0" i="0" dirty="0">
                <a:effectLst/>
                <a:latin typeface="Calibri" panose="020F0502020204030204" pitchFamily="34" charset="0"/>
              </a:rPr>
              <a:t>Amazon Q</a:t>
            </a:r>
          </a:p>
          <a:p>
            <a:pPr lvl="1" rtl="0" fontAlgn="ctr"/>
            <a:r>
              <a:rPr lang="en-US" sz="2000" b="0" i="0" dirty="0">
                <a:effectLst/>
                <a:latin typeface="Calibri" panose="020F0502020204030204" pitchFamily="34" charset="0"/>
              </a:rPr>
              <a:t>Amazon Q Developer</a:t>
            </a:r>
            <a:endParaRPr lang="en-US" sz="2000" dirty="0"/>
          </a:p>
        </p:txBody>
      </p:sp>
    </p:spTree>
    <p:extLst>
      <p:ext uri="{BB962C8B-B14F-4D97-AF65-F5344CB8AC3E}">
        <p14:creationId xmlns:p14="http://schemas.microsoft.com/office/powerpoint/2010/main" val="728354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C9A4A4-AC94-102B-CB85-0E929D3EBEEF}"/>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Advantages of AWS AI Services</a:t>
            </a:r>
          </a:p>
        </p:txBody>
      </p:sp>
      <p:sp>
        <p:nvSpPr>
          <p:cNvPr id="3" name="Content Placeholder 2">
            <a:extLst>
              <a:ext uri="{FF2B5EF4-FFF2-40B4-BE49-F238E27FC236}">
                <a16:creationId xmlns:a16="http://schemas.microsoft.com/office/drawing/2014/main" id="{06E9923B-6E48-D6BD-F3F3-3FBF4992FEAE}"/>
              </a:ext>
            </a:extLst>
          </p:cNvPr>
          <p:cNvSpPr>
            <a:spLocks noGrp="1"/>
          </p:cNvSpPr>
          <p:nvPr>
            <p:ph idx="1"/>
          </p:nvPr>
        </p:nvSpPr>
        <p:spPr>
          <a:xfrm>
            <a:off x="4810259" y="649480"/>
            <a:ext cx="6555347" cy="5546047"/>
          </a:xfrm>
        </p:spPr>
        <p:txBody>
          <a:bodyPr anchor="ctr">
            <a:normAutofit/>
          </a:bodyPr>
          <a:lstStyle/>
          <a:p>
            <a:r>
              <a:rPr lang="en-US" sz="2000" b="0" i="0" dirty="0">
                <a:effectLst/>
                <a:latin typeface="Calibri" panose="020F0502020204030204" pitchFamily="34" charset="0"/>
              </a:rPr>
              <a:t>AWS offers top-notch security and privacy features to keep your data safe and it gives you access to the most advanced AI models available. </a:t>
            </a:r>
          </a:p>
          <a:p>
            <a:pPr lvl="1"/>
            <a:r>
              <a:rPr lang="en-US" sz="2000" dirty="0">
                <a:latin typeface="Calibri" panose="020F0502020204030204" pitchFamily="34" charset="0"/>
              </a:rPr>
              <a:t>Accelerate development and deployment</a:t>
            </a:r>
          </a:p>
          <a:p>
            <a:pPr lvl="1"/>
            <a:r>
              <a:rPr lang="en-US" sz="2000" dirty="0">
                <a:latin typeface="Calibri" panose="020F0502020204030204" pitchFamily="34" charset="0"/>
              </a:rPr>
              <a:t>Scalability and cost optimization</a:t>
            </a:r>
          </a:p>
          <a:p>
            <a:pPr lvl="1"/>
            <a:r>
              <a:rPr lang="en-US" sz="2000" dirty="0">
                <a:latin typeface="Calibri" panose="020F0502020204030204" pitchFamily="34" charset="0"/>
              </a:rPr>
              <a:t>Flexibility and access to model</a:t>
            </a:r>
          </a:p>
          <a:p>
            <a:pPr lvl="1"/>
            <a:r>
              <a:rPr lang="en-US" sz="2000" dirty="0">
                <a:latin typeface="Calibri" panose="020F0502020204030204" pitchFamily="34" charset="0"/>
              </a:rPr>
              <a:t>Integration with AWS Tools and services</a:t>
            </a:r>
          </a:p>
          <a:p>
            <a:pPr lvl="1"/>
            <a:endParaRPr lang="en-US" sz="2000" dirty="0"/>
          </a:p>
        </p:txBody>
      </p:sp>
    </p:spTree>
    <p:extLst>
      <p:ext uri="{BB962C8B-B14F-4D97-AF65-F5344CB8AC3E}">
        <p14:creationId xmlns:p14="http://schemas.microsoft.com/office/powerpoint/2010/main" val="3905923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C454F8-0D84-7004-2D8E-25A670E37F2C}"/>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effectLst/>
                <a:latin typeface="Calibri" panose="020F0502020204030204" pitchFamily="34" charset="0"/>
              </a:rPr>
              <a:t>Cost considerations</a:t>
            </a:r>
            <a:endParaRPr lang="en-US" sz="4000">
              <a:solidFill>
                <a:srgbClr val="FFFFFF"/>
              </a:solidFill>
            </a:endParaRPr>
          </a:p>
        </p:txBody>
      </p:sp>
      <p:sp>
        <p:nvSpPr>
          <p:cNvPr id="3" name="Content Placeholder 2">
            <a:extLst>
              <a:ext uri="{FF2B5EF4-FFF2-40B4-BE49-F238E27FC236}">
                <a16:creationId xmlns:a16="http://schemas.microsoft.com/office/drawing/2014/main" id="{2028ACFD-CAFC-9B85-BE4C-53EEB3B7C2C2}"/>
              </a:ext>
            </a:extLst>
          </p:cNvPr>
          <p:cNvSpPr>
            <a:spLocks noGrp="1"/>
          </p:cNvSpPr>
          <p:nvPr>
            <p:ph idx="1"/>
          </p:nvPr>
        </p:nvSpPr>
        <p:spPr>
          <a:xfrm>
            <a:off x="4810259" y="649480"/>
            <a:ext cx="6555347" cy="5546047"/>
          </a:xfrm>
        </p:spPr>
        <p:txBody>
          <a:bodyPr anchor="ctr">
            <a:normAutofit/>
          </a:bodyPr>
          <a:lstStyle/>
          <a:p>
            <a:r>
              <a:rPr lang="en-US" sz="2000" dirty="0"/>
              <a:t>As training FM’s and building infrastructure is most difficult and involves lot of cost. We need to understand how it works in overall. </a:t>
            </a:r>
          </a:p>
          <a:p>
            <a:pPr lvl="1"/>
            <a:r>
              <a:rPr lang="en-US" sz="2000" dirty="0"/>
              <a:t>Responsiveness and availability</a:t>
            </a:r>
          </a:p>
          <a:p>
            <a:pPr lvl="1"/>
            <a:r>
              <a:rPr lang="en-US" sz="2000" dirty="0"/>
              <a:t>Redundancy and reginal coverage</a:t>
            </a:r>
          </a:p>
          <a:p>
            <a:pPr lvl="1"/>
            <a:r>
              <a:rPr lang="en-US" sz="2000" dirty="0"/>
              <a:t>Performance</a:t>
            </a:r>
          </a:p>
          <a:p>
            <a:pPr lvl="1"/>
            <a:r>
              <a:rPr lang="en-US" sz="2000" dirty="0"/>
              <a:t>Token based pricing</a:t>
            </a:r>
          </a:p>
          <a:p>
            <a:pPr lvl="1"/>
            <a:r>
              <a:rPr lang="en-US" sz="2000" dirty="0"/>
              <a:t>Provision throughput</a:t>
            </a:r>
          </a:p>
          <a:p>
            <a:pPr lvl="1"/>
            <a:r>
              <a:rPr lang="en-US" sz="2000" dirty="0"/>
              <a:t>Custom models</a:t>
            </a:r>
          </a:p>
        </p:txBody>
      </p:sp>
    </p:spTree>
    <p:extLst>
      <p:ext uri="{BB962C8B-B14F-4D97-AF65-F5344CB8AC3E}">
        <p14:creationId xmlns:p14="http://schemas.microsoft.com/office/powerpoint/2010/main" val="1046050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0D3AFA-FDB6-E282-03ED-CA6D5A863BD1}"/>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Support Tool(s)</a:t>
            </a:r>
          </a:p>
        </p:txBody>
      </p:sp>
      <p:sp>
        <p:nvSpPr>
          <p:cNvPr id="3" name="Content Placeholder 2">
            <a:extLst>
              <a:ext uri="{FF2B5EF4-FFF2-40B4-BE49-F238E27FC236}">
                <a16:creationId xmlns:a16="http://schemas.microsoft.com/office/drawing/2014/main" id="{920055C0-284D-7481-0582-B380CB32B662}"/>
              </a:ext>
            </a:extLst>
          </p:cNvPr>
          <p:cNvSpPr>
            <a:spLocks noGrp="1"/>
          </p:cNvSpPr>
          <p:nvPr>
            <p:ph idx="1"/>
          </p:nvPr>
        </p:nvSpPr>
        <p:spPr>
          <a:xfrm>
            <a:off x="4810259" y="649480"/>
            <a:ext cx="6555347" cy="5546047"/>
          </a:xfrm>
        </p:spPr>
        <p:txBody>
          <a:bodyPr anchor="ctr">
            <a:normAutofit/>
          </a:bodyPr>
          <a:lstStyle/>
          <a:p>
            <a:r>
              <a:rPr lang="en-US" sz="2000" dirty="0"/>
              <a:t>AWS Bedrock Agents: </a:t>
            </a:r>
            <a:r>
              <a:rPr lang="en-US" sz="1800" b="0" i="0" dirty="0">
                <a:solidFill>
                  <a:srgbClr val="232B37"/>
                </a:solidFill>
                <a:effectLst/>
                <a:latin typeface="Amazon Ember Display"/>
              </a:rPr>
              <a:t>Agents for Amazon Bedrock plan and execute multistep tasks using company systems and data sources—from answering customer questions about your product availability to taking their orders. </a:t>
            </a:r>
          </a:p>
          <a:p>
            <a:r>
              <a:rPr lang="en-US" sz="1800" dirty="0">
                <a:solidFill>
                  <a:srgbClr val="232B37"/>
                </a:solidFill>
                <a:latin typeface="Amazon Ember Display"/>
              </a:rPr>
              <a:t>Benefits of using Agents:</a:t>
            </a:r>
          </a:p>
          <a:p>
            <a:pPr lvl="1"/>
            <a:r>
              <a:rPr lang="en-US" sz="1600" i="0" dirty="0">
                <a:effectLst/>
                <a:latin typeface="Amazon Ember Display"/>
              </a:rPr>
              <a:t>Multi-agent collaboration</a:t>
            </a:r>
          </a:p>
          <a:p>
            <a:pPr lvl="1"/>
            <a:r>
              <a:rPr lang="en-US" sz="1600" i="0" dirty="0">
                <a:effectLst/>
                <a:latin typeface="Amazon Ember Display"/>
              </a:rPr>
              <a:t>Retrieval augmented generation Agents</a:t>
            </a:r>
          </a:p>
          <a:p>
            <a:pPr lvl="1"/>
            <a:r>
              <a:rPr lang="en-US" sz="1600" i="0" dirty="0">
                <a:effectLst/>
                <a:latin typeface="Amazon Ember Display"/>
              </a:rPr>
              <a:t>Orchestrate and execute multistep tasks</a:t>
            </a:r>
          </a:p>
          <a:p>
            <a:pPr lvl="1"/>
            <a:r>
              <a:rPr lang="en-US" sz="1600" i="0" dirty="0">
                <a:effectLst/>
                <a:latin typeface="Amazon Ember Display"/>
              </a:rPr>
              <a:t>Memory retention across interactions</a:t>
            </a:r>
          </a:p>
          <a:p>
            <a:pPr lvl="1"/>
            <a:r>
              <a:rPr lang="en-US" sz="1600" dirty="0">
                <a:latin typeface="Amazon Ember Display"/>
              </a:rPr>
              <a:t>Prompt engineering</a:t>
            </a:r>
            <a:endParaRPr lang="en-US" sz="1600" i="0" dirty="0">
              <a:effectLst/>
              <a:latin typeface="Amazon Ember Display"/>
            </a:endParaRPr>
          </a:p>
          <a:p>
            <a:pPr lvl="1"/>
            <a:endParaRPr lang="en-US" sz="1600" i="0" dirty="0">
              <a:effectLst/>
              <a:latin typeface="Amazon Ember Display"/>
            </a:endParaRPr>
          </a:p>
          <a:p>
            <a:pPr lvl="1"/>
            <a:endParaRPr lang="en-US" sz="1600" i="0" dirty="0">
              <a:effectLst/>
              <a:latin typeface="Amazon Ember Display"/>
            </a:endParaRPr>
          </a:p>
          <a:p>
            <a:pPr lvl="1"/>
            <a:endParaRPr lang="en-US" sz="1600" i="0" dirty="0">
              <a:effectLst/>
              <a:latin typeface="Amazon Ember Display"/>
            </a:endParaRPr>
          </a:p>
          <a:p>
            <a:pPr lvl="1"/>
            <a:endParaRPr lang="en-US" sz="1400" b="0" i="0" dirty="0">
              <a:solidFill>
                <a:srgbClr val="232B37"/>
              </a:solidFill>
              <a:effectLst/>
              <a:latin typeface="Amazon Ember Display"/>
            </a:endParaRPr>
          </a:p>
        </p:txBody>
      </p:sp>
    </p:spTree>
    <p:extLst>
      <p:ext uri="{BB962C8B-B14F-4D97-AF65-F5344CB8AC3E}">
        <p14:creationId xmlns:p14="http://schemas.microsoft.com/office/powerpoint/2010/main" val="2484201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F5D4A0-5032-8D96-3C74-FC1A4542CC92}"/>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Real time Image process</a:t>
            </a:r>
          </a:p>
        </p:txBody>
      </p:sp>
      <p:sp>
        <p:nvSpPr>
          <p:cNvPr id="3" name="Content Placeholder 2">
            <a:extLst>
              <a:ext uri="{FF2B5EF4-FFF2-40B4-BE49-F238E27FC236}">
                <a16:creationId xmlns:a16="http://schemas.microsoft.com/office/drawing/2014/main" id="{1FED589F-04EE-2169-0AAB-FF315D105145}"/>
              </a:ext>
            </a:extLst>
          </p:cNvPr>
          <p:cNvSpPr>
            <a:spLocks noGrp="1"/>
          </p:cNvSpPr>
          <p:nvPr>
            <p:ph idx="1"/>
          </p:nvPr>
        </p:nvSpPr>
        <p:spPr>
          <a:xfrm>
            <a:off x="4810259" y="649480"/>
            <a:ext cx="6555347" cy="5546047"/>
          </a:xfrm>
        </p:spPr>
        <p:txBody>
          <a:bodyPr anchor="ctr">
            <a:normAutofit/>
          </a:bodyPr>
          <a:lstStyle/>
          <a:p>
            <a:r>
              <a:rPr lang="en-US" sz="2000" dirty="0"/>
              <a:t>Amazon </a:t>
            </a:r>
            <a:r>
              <a:rPr lang="en-US" sz="2000" dirty="0" err="1"/>
              <a:t>Rekognition</a:t>
            </a:r>
            <a:r>
              <a:rPr lang="en-US" sz="2000" dirty="0"/>
              <a:t> automates your image and video analysis with ML and analyzes millions of images, live streams, and stored videos in seconds.</a:t>
            </a:r>
          </a:p>
        </p:txBody>
      </p:sp>
    </p:spTree>
    <p:extLst>
      <p:ext uri="{BB962C8B-B14F-4D97-AF65-F5344CB8AC3E}">
        <p14:creationId xmlns:p14="http://schemas.microsoft.com/office/powerpoint/2010/main" val="2953670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23ED59-5936-F501-2532-3C64F27E744E}"/>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Thank You</a:t>
            </a:r>
          </a:p>
        </p:txBody>
      </p:sp>
      <p:sp>
        <p:nvSpPr>
          <p:cNvPr id="3" name="Content Placeholder 2">
            <a:extLst>
              <a:ext uri="{FF2B5EF4-FFF2-40B4-BE49-F238E27FC236}">
                <a16:creationId xmlns:a16="http://schemas.microsoft.com/office/drawing/2014/main" id="{62397525-B035-7D51-2898-1C8B533E62D7}"/>
              </a:ext>
            </a:extLst>
          </p:cNvPr>
          <p:cNvSpPr>
            <a:spLocks noGrp="1"/>
          </p:cNvSpPr>
          <p:nvPr>
            <p:ph idx="1"/>
          </p:nvPr>
        </p:nvSpPr>
        <p:spPr>
          <a:xfrm>
            <a:off x="4810259" y="649480"/>
            <a:ext cx="6555347" cy="5546047"/>
          </a:xfrm>
        </p:spPr>
        <p:txBody>
          <a:bodyPr anchor="ctr">
            <a:normAutofit/>
          </a:bodyPr>
          <a:lstStyle/>
          <a:p>
            <a:r>
              <a:rPr lang="en-US" sz="2000"/>
              <a:t>Q&amp;A</a:t>
            </a:r>
          </a:p>
        </p:txBody>
      </p:sp>
    </p:spTree>
    <p:extLst>
      <p:ext uri="{BB962C8B-B14F-4D97-AF65-F5344CB8AC3E}">
        <p14:creationId xmlns:p14="http://schemas.microsoft.com/office/powerpoint/2010/main" val="3233603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29374dd-2437-4816-8d63-bf9cc1b578e5}" enabled="1" method="Privileged" siteId="{39b03722-b836-496a-85ec-850f0957ca6b}" removed="0"/>
</clbl:labelList>
</file>

<file path=docProps/app.xml><?xml version="1.0" encoding="utf-8"?>
<Properties xmlns="http://schemas.openxmlformats.org/officeDocument/2006/extended-properties" xmlns:vt="http://schemas.openxmlformats.org/officeDocument/2006/docPropsVTypes">
  <Template>Ion</Template>
  <TotalTime>2738</TotalTime>
  <Words>4860</Words>
  <Application>Microsoft Office PowerPoint</Application>
  <PresentationFormat>Widescreen</PresentationFormat>
  <Paragraphs>362</Paragraphs>
  <Slides>24</Slides>
  <Notes>22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Amazon Ember Display</vt:lpstr>
      <vt:lpstr>Aptos</vt:lpstr>
      <vt:lpstr>Aptos Display</vt:lpstr>
      <vt:lpstr>Arial</vt:lpstr>
      <vt:lpstr>Calibri</vt:lpstr>
      <vt:lpstr>Ember Display</vt:lpstr>
      <vt:lpstr>inherit</vt:lpstr>
      <vt:lpstr>lato</vt:lpstr>
      <vt:lpstr>Open Sans</vt:lpstr>
      <vt:lpstr>var(--font-family-head)</vt:lpstr>
      <vt:lpstr>Verdana</vt:lpstr>
      <vt:lpstr>Office Theme</vt:lpstr>
      <vt:lpstr>AWS AI Practitioner</vt:lpstr>
      <vt:lpstr>Content</vt:lpstr>
      <vt:lpstr>Artificial Intelligence</vt:lpstr>
      <vt:lpstr>Relation ship between AI and Gen AI</vt:lpstr>
      <vt:lpstr>PowerPoint Presentation</vt:lpstr>
      <vt:lpstr>How does AI Works</vt:lpstr>
      <vt:lpstr>Machine Learning</vt:lpstr>
      <vt:lpstr>Training Data</vt:lpstr>
      <vt:lpstr>ML Algorithm</vt:lpstr>
      <vt:lpstr>Inferencing</vt:lpstr>
      <vt:lpstr>Deep Learning</vt:lpstr>
      <vt:lpstr>Generative AI(Gen AI)</vt:lpstr>
      <vt:lpstr>How does Gen AI works</vt:lpstr>
      <vt:lpstr>Different Types of Foundation Modes</vt:lpstr>
      <vt:lpstr>Optimizing Foundation Models</vt:lpstr>
      <vt:lpstr>AWS Infrastructure and technologies for AI and ML</vt:lpstr>
      <vt:lpstr>ML Frameworks</vt:lpstr>
      <vt:lpstr>AI/ML Services</vt:lpstr>
      <vt:lpstr>Generative AI</vt:lpstr>
      <vt:lpstr>Advantages of AWS AI Services</vt:lpstr>
      <vt:lpstr>Cost considerations</vt:lpstr>
      <vt:lpstr>Support Tool(s)</vt:lpstr>
      <vt:lpstr>Real time Image process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Lalitadevi Pila</dc:creator>
  <cp:lastModifiedBy>Lalitadevi Pila</cp:lastModifiedBy>
  <cp:revision>1</cp:revision>
  <dcterms:created xsi:type="dcterms:W3CDTF">2025-01-21T18:32:29Z</dcterms:created>
  <dcterms:modified xsi:type="dcterms:W3CDTF">2025-12-30T02:36:26Z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29374dd-2437-4816-8d63-bf9cc1b578e5_Enabled">
    <vt:lpwstr>true</vt:lpwstr>
  </property>
  <property fmtid="{D5CDD505-2E9C-101B-9397-08002B2CF9AE}" pid="3" name="MSIP_Label_029374dd-2437-4816-8d63-bf9cc1b578e5_SetDate">
    <vt:lpwstr>2025-01-21T18:49:27Z</vt:lpwstr>
  </property>
  <property fmtid="{D5CDD505-2E9C-101B-9397-08002B2CF9AE}" pid="4" name="MSIP_Label_029374dd-2437-4816-8d63-bf9cc1b578e5_Method">
    <vt:lpwstr>Privileged</vt:lpwstr>
  </property>
  <property fmtid="{D5CDD505-2E9C-101B-9397-08002B2CF9AE}" pid="5" name="MSIP_Label_029374dd-2437-4816-8d63-bf9cc1b578e5_Name">
    <vt:lpwstr>Public</vt:lpwstr>
  </property>
  <property fmtid="{D5CDD505-2E9C-101B-9397-08002B2CF9AE}" pid="6" name="MSIP_Label_029374dd-2437-4816-8d63-bf9cc1b578e5_SiteId">
    <vt:lpwstr>39b03722-b836-496a-85ec-850f0957ca6b</vt:lpwstr>
  </property>
  <property fmtid="{D5CDD505-2E9C-101B-9397-08002B2CF9AE}" pid="7" name="MSIP_Label_029374dd-2437-4816-8d63-bf9cc1b578e5_ActionId">
    <vt:lpwstr>598b9fee-2fad-455b-9cef-7a685ed26f70</vt:lpwstr>
  </property>
  <property fmtid="{D5CDD505-2E9C-101B-9397-08002B2CF9AE}" pid="8" name="MSIP_Label_029374dd-2437-4816-8d63-bf9cc1b578e5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Public</vt:lpwstr>
  </property>
</Properties>
</file>